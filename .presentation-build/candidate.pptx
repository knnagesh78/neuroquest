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327420b1e64c74" /><Relationship Type="http://schemas.openxmlformats.org/officeDocument/2006/relationships/extended-properties" Target="/docProps/app.xml" Id="R82d8212ea1fc4d29" /><Relationship Type="http://schemas.openxmlformats.org/officeDocument/2006/relationships/officeDocument" Target="/ppt/presentation.xml" Id="R79c0aca87a8d4f33" /></Relationships>
</file>

<file path=ppt/presentation.xml><?xml version="1.0" encoding="utf-8"?>
<p:presentation xmlns:p="http://schemas.openxmlformats.org/presentationml/2006/main">
  <p:sldMasterIdLst>
    <p:sldMasterId xmlns:r="http://schemas.openxmlformats.org/officeDocument/2006/relationships" id="2147483648" r:id="R83e3ee4d88f54824"/>
  </p:sldMasterIdLst>
  <p:notesMasterIdLst>
    <p:notesMasterId xmlns:r="http://schemas.openxmlformats.org/officeDocument/2006/relationships" r:id="R41e283d22d654a52"/>
  </p:notesMasterIdLst>
  <p:sldIdLst>
    <p:sldId xmlns:r="http://schemas.openxmlformats.org/officeDocument/2006/relationships" id="256" r:id="Rfb32b0ef44cf418a"/>
    <p:sldId xmlns:r="http://schemas.openxmlformats.org/officeDocument/2006/relationships" id="257" r:id="Rfdc0e2347fa34c62"/>
    <p:sldId xmlns:r="http://schemas.openxmlformats.org/officeDocument/2006/relationships" id="258" r:id="R321c54930ad34a9e"/>
    <p:sldId xmlns:r="http://schemas.openxmlformats.org/officeDocument/2006/relationships" id="259" r:id="R178f83ca1617455f"/>
    <p:sldId xmlns:r="http://schemas.openxmlformats.org/officeDocument/2006/relationships" id="260" r:id="R0841fbc9ef994671"/>
    <p:sldId xmlns:r="http://schemas.openxmlformats.org/officeDocument/2006/relationships" id="261" r:id="R64b2781e71044c92"/>
    <p:sldId xmlns:r="http://schemas.openxmlformats.org/officeDocument/2006/relationships" id="262" r:id="Re922f0f472874b96"/>
    <p:sldId xmlns:r="http://schemas.openxmlformats.org/officeDocument/2006/relationships" id="263" r:id="R675d9f3ea9974de9"/>
    <p:sldId xmlns:r="http://schemas.openxmlformats.org/officeDocument/2006/relationships" id="264" r:id="R36df2e82641b40bb"/>
    <p:sldId xmlns:r="http://schemas.openxmlformats.org/officeDocument/2006/relationships" id="265" r:id="R2682a265d91a41bf"/>
    <p:sldId xmlns:r="http://schemas.openxmlformats.org/officeDocument/2006/relationships" id="266" r:id="R513e9f32ca5d4c18"/>
    <p:sldId xmlns:r="http://schemas.openxmlformats.org/officeDocument/2006/relationships" id="267" r:id="R9cddf358f50f4b6e"/>
    <p:sldId xmlns:r="http://schemas.openxmlformats.org/officeDocument/2006/relationships" id="268" r:id="Racbc125c45ba4b8f"/>
    <p:sldId xmlns:r="http://schemas.openxmlformats.org/officeDocument/2006/relationships" id="269" r:id="R135a9a1633a048d4"/>
    <p:sldId xmlns:r="http://schemas.openxmlformats.org/officeDocument/2006/relationships" id="270" r:id="Rd9b8e203db8441a9"/>
    <p:sldId xmlns:r="http://schemas.openxmlformats.org/officeDocument/2006/relationships" id="271" r:id="R053042de34d64d4f"/>
    <p:sldId xmlns:r="http://schemas.openxmlformats.org/officeDocument/2006/relationships" id="272" r:id="Rf399689e5eb74f70"/>
    <p:sldId xmlns:r="http://schemas.openxmlformats.org/officeDocument/2006/relationships" id="273" r:id="Rd23d99c24a7f4cc7"/>
    <p:sldId xmlns:r="http://schemas.openxmlformats.org/officeDocument/2006/relationships" id="274" r:id="Rb9621b5ed2c8480d"/>
    <p:sldId xmlns:r="http://schemas.openxmlformats.org/officeDocument/2006/relationships" id="275" r:id="R5977b53f86fa42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76d9c9300245ee" /><Relationship Type="http://schemas.openxmlformats.org/officeDocument/2006/relationships/slideMaster" Target="/ppt/slideMasters/slideMaster1.xml" Id="R83e3ee4d88f54824" /><Relationship Type="http://schemas.openxmlformats.org/officeDocument/2006/relationships/notesMaster" Target="/ppt/notesMasters/notesMaster1.xml" Id="R41e283d22d654a52" /><Relationship Type="http://schemas.openxmlformats.org/officeDocument/2006/relationships/presProps" Target="/ppt/presProps.xml" Id="R89da469cb70042ce" /><Relationship Type="http://schemas.openxmlformats.org/officeDocument/2006/relationships/tableStyles" Target="/ppt/tableStyles.xml" Id="Ref10f620cb804910" /><Relationship Type="http://schemas.openxmlformats.org/officeDocument/2006/relationships/slide" Target="/ppt/slides/slide1.xml" Id="Rfb32b0ef44cf418a" /><Relationship Type="http://schemas.openxmlformats.org/officeDocument/2006/relationships/slide" Target="/ppt/slides/slide2.xml" Id="Rfdc0e2347fa34c62" /><Relationship Type="http://schemas.openxmlformats.org/officeDocument/2006/relationships/slide" Target="/ppt/slides/slide3.xml" Id="R321c54930ad34a9e" /><Relationship Type="http://schemas.openxmlformats.org/officeDocument/2006/relationships/slide" Target="/ppt/slides/slide4.xml" Id="R178f83ca1617455f" /><Relationship Type="http://schemas.openxmlformats.org/officeDocument/2006/relationships/slide" Target="/ppt/slides/slide5.xml" Id="R0841fbc9ef994671" /><Relationship Type="http://schemas.openxmlformats.org/officeDocument/2006/relationships/slide" Target="/ppt/slides/slide6.xml" Id="R64b2781e71044c92" /><Relationship Type="http://schemas.openxmlformats.org/officeDocument/2006/relationships/slide" Target="/ppt/slides/slide7.xml" Id="Re922f0f472874b96" /><Relationship Type="http://schemas.openxmlformats.org/officeDocument/2006/relationships/slide" Target="/ppt/slides/slide8.xml" Id="R675d9f3ea9974de9" /><Relationship Type="http://schemas.openxmlformats.org/officeDocument/2006/relationships/slide" Target="/ppt/slides/slide9.xml" Id="R36df2e82641b40bb" /><Relationship Type="http://schemas.openxmlformats.org/officeDocument/2006/relationships/slide" Target="/ppt/slides/slide10.xml" Id="R2682a265d91a41bf" /><Relationship Type="http://schemas.openxmlformats.org/officeDocument/2006/relationships/slide" Target="/ppt/slides/slide11.xml" Id="R513e9f32ca5d4c18" /><Relationship Type="http://schemas.openxmlformats.org/officeDocument/2006/relationships/slide" Target="/ppt/slides/slide12.xml" Id="R9cddf358f50f4b6e" /><Relationship Type="http://schemas.openxmlformats.org/officeDocument/2006/relationships/slide" Target="/ppt/slides/slide13.xml" Id="Racbc125c45ba4b8f" /><Relationship Type="http://schemas.openxmlformats.org/officeDocument/2006/relationships/slide" Target="/ppt/slides/slide14.xml" Id="R135a9a1633a048d4" /><Relationship Type="http://schemas.openxmlformats.org/officeDocument/2006/relationships/slide" Target="/ppt/slides/slide15.xml" Id="Rd9b8e203db8441a9" /><Relationship Type="http://schemas.openxmlformats.org/officeDocument/2006/relationships/slide" Target="/ppt/slides/slide16.xml" Id="R053042de34d64d4f" /><Relationship Type="http://schemas.openxmlformats.org/officeDocument/2006/relationships/slide" Target="/ppt/slides/slide17.xml" Id="Rf399689e5eb74f70" /><Relationship Type="http://schemas.openxmlformats.org/officeDocument/2006/relationships/slide" Target="/ppt/slides/slide18.xml" Id="Rd23d99c24a7f4cc7" /><Relationship Type="http://schemas.openxmlformats.org/officeDocument/2006/relationships/slide" Target="/ppt/slides/slide19.xml" Id="Rb9621b5ed2c8480d" /><Relationship Type="http://schemas.openxmlformats.org/officeDocument/2006/relationships/slide" Target="/ppt/slides/slide20.xml" Id="R5977b53f86fa42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1a52ea31c745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e47fbe71d54241" /><Relationship Type="http://schemas.openxmlformats.org/officeDocument/2006/relationships/notesMaster" Target="/ppt/notesMasters/notesMaster1.xml" Id="Rc28e7b9e8ac249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dd1ed649464094" /><Relationship Type="http://schemas.openxmlformats.org/officeDocument/2006/relationships/notesMaster" Target="/ppt/notesMasters/notesMaster1.xml" Id="R49b720ee39034e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d1a14199fa4701" /><Relationship Type="http://schemas.openxmlformats.org/officeDocument/2006/relationships/notesMaster" Target="/ppt/notesMasters/notesMaster1.xml" Id="Rb1ac519de14c4c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47ebd2087644f6" /><Relationship Type="http://schemas.openxmlformats.org/officeDocument/2006/relationships/notesMaster" Target="/ppt/notesMasters/notesMaster1.xml" Id="R4e9c0d8f683c48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56c46852bb4863" /><Relationship Type="http://schemas.openxmlformats.org/officeDocument/2006/relationships/notesMaster" Target="/ppt/notesMasters/notesMaster1.xml" Id="R254dce12d2b343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df789ab8b74765" /><Relationship Type="http://schemas.openxmlformats.org/officeDocument/2006/relationships/notesMaster" Target="/ppt/notesMasters/notesMaster1.xml" Id="Rcc9e8edd67f74d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734e48bf844d74" /><Relationship Type="http://schemas.openxmlformats.org/officeDocument/2006/relationships/notesMaster" Target="/ppt/notesMasters/notesMaster1.xml" Id="R75b87e4953864d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542d58933942a3" /><Relationship Type="http://schemas.openxmlformats.org/officeDocument/2006/relationships/notesMaster" Target="/ppt/notesMasters/notesMaster1.xml" Id="Rc088e5de8d974d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c288b491084092" /><Relationship Type="http://schemas.openxmlformats.org/officeDocument/2006/relationships/notesMaster" Target="/ppt/notesMasters/notesMaster1.xml" Id="R9eaa92c4d8f84c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62b6d9ce454ba0" /><Relationship Type="http://schemas.openxmlformats.org/officeDocument/2006/relationships/notesMaster" Target="/ppt/notesMasters/notesMaster1.xml" Id="R90c4b170415b45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c4c12158d84721" /><Relationship Type="http://schemas.openxmlformats.org/officeDocument/2006/relationships/notesMaster" Target="/ppt/notesMasters/notesMaster1.xml" Id="R477aafc62c9341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04400391a54415" /><Relationship Type="http://schemas.openxmlformats.org/officeDocument/2006/relationships/notesMaster" Target="/ppt/notesMasters/notesMaster1.xml" Id="Ra016483fe70d44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468282a3214d6e" /><Relationship Type="http://schemas.openxmlformats.org/officeDocument/2006/relationships/notesMaster" Target="/ppt/notesMasters/notesMaster1.xml" Id="Rfa3321beafca48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f147f8d9b048c4" /><Relationship Type="http://schemas.openxmlformats.org/officeDocument/2006/relationships/notesMaster" Target="/ppt/notesMasters/notesMaster1.xml" Id="Rd0f493f2324048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70b34790074313" /><Relationship Type="http://schemas.openxmlformats.org/officeDocument/2006/relationships/notesMaster" Target="/ppt/notesMasters/notesMaster1.xml" Id="Ra672f7d9f50240e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8cfc1cb2584e83" /><Relationship Type="http://schemas.openxmlformats.org/officeDocument/2006/relationships/notesMaster" Target="/ppt/notesMasters/notesMaster1.xml" Id="R88e63313f7ef4d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2985060b4e41da" /><Relationship Type="http://schemas.openxmlformats.org/officeDocument/2006/relationships/notesMaster" Target="/ppt/notesMasters/notesMaster1.xml" Id="Rca539dbfd7b641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4ef79c7b64447f" /><Relationship Type="http://schemas.openxmlformats.org/officeDocument/2006/relationships/notesMaster" Target="/ppt/notesMasters/notesMaster1.xml" Id="Rcf8342b00a1447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dece9a80634fbf" /><Relationship Type="http://schemas.openxmlformats.org/officeDocument/2006/relationships/notesMaster" Target="/ppt/notesMasters/notesMaster1.xml" Id="Rc9ac653d9e4d43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c0847f1a2f4d4a" /><Relationship Type="http://schemas.openxmlformats.org/officeDocument/2006/relationships/notesMaster" Target="/ppt/notesMasters/notesMaster1.xml" Id="Ra21ea10727fa41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respected lecturers and fellow students. We are presenting NeuroQuest, a web application that gives study concepts a place inside a virtual memory palace. A student can attach a note to an object, return to its location, and try to remember the concept before opening the answer. Today we will explain the purpose, demonstrate the learning process, and describe how the website works. The current implementation runs in the browser and saves study data locally.</a:t>
            </a:r>
          </a:p>
          <a:p xmlns:a="http://schemas.openxmlformats.org/drawingml/2006/main">
            <a:r>
              <a:t>Source: README.md and src/components/NeuroQuest.tsx. Cover image is an AI-generated concept illustration, not a screenshot of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purpose is to support an active study habit. Students often have many notes, but need a practical way to return to a concept and check whether they can remember it. NeuroQuest combines a spatial cue with a recall prompt. The 3D object is the cue, the note contains the explanation, and the challenge asks the student to retrieve the idea before revealing it. The app supports revision. It does not replace explanation, problem solving, or a teacher's guidance.</a:t>
            </a:r>
          </a:p>
          <a:p xmlns:a="http://schemas.openxmlformats.org/drawingml/2006/main">
            <a:r>
              <a:t>Source: README.md; src/components/ui/AnchorDrawer.tsx.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the problem our design aims to address, rather than claiming that every student has the same difficulty. NeuroQuest offers a visual route through study material and a deliberate pause before viewing an answer. Research on retrieval practice motivates the recall step. However, we have not run a controlled educational study of this particular application, so we cannot claim a percentage improvement in memory or marks.</a:t>
            </a:r>
          </a:p>
          <a:p xmlns:a="http://schemas.openxmlformats.org/drawingml/2006/main">
            <a:r>
              <a:t>Source: project requirements; Roediger and Karpicke (2006), https://doi.org/10.1111/j.1467-9280.2006.01693.x.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 of Loci links information to places. NeuroQuest provides a digital space where the student can form those associations. A crystal might represent one concept while a ring represents another. During recall, the title is hidden and the student tries to identify the idea from its place. Research on mnemonic training and retrieval practice supports the rationale for exploring this approach, but those studies did not test NeuroQuest.</a:t>
            </a:r>
          </a:p>
          <a:p xmlns:a="http://schemas.openxmlformats.org/drawingml/2006/main">
            <a:r>
              <a:t>Sources: Dresler et al. (2017), https://doi.org/10.1016/j.neuron.2017.02.003; Roediger and Karpicke (2006), https://doi.org/10.1111/j.1467-9280.2006.01693.x.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NeuroQuest begins with three example subjects. The new Create palace feature allows students to add other subjects, such as Mathematics or Chemistry. Every palace has its own anchors. Each anchor contains a title, category, Markdown content, shape, color, and position. Students can find anchors through the scene, map, list, or search. The anatomical and historical subjects currently use geometric artifacts and notes, not detailed anatomical simulations or reconstructed historical locations.</a:t>
            </a:r>
          </a:p>
          <a:p xmlns:a="http://schemas.openxmlformats.org/drawingml/2006/main">
            <a:r>
              <a:t>Sources: src/lib/data.ts; src/lib/types.ts; src/components/NeuroQuest.tsx; src/components/ui/AddRoomModal.tsx.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full student workflow. Begin with one small topic and a few clear anchors. In Explore mode, read and understand the material. Then switch to Recall Challenge, select an object, and answer aloud or on paper before revealing the note. Rate the attempt honestly. Easy marks the anchor as mastered, while Hard and Failed mark it as learning. Students choose when to return. The current version does not automatically schedule spaced repetition.</a:t>
            </a:r>
          </a:p>
          <a:p xmlns:a="http://schemas.openxmlformats.org/drawingml/2006/main">
            <a:r>
              <a:t>Source: README.md, Explore and study and Recall challenge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demonstrate the feature, create a subject such as Mathematics. Choose an icon and a color that make it easy to recognize in the sidebar. The palace begins empty, so the next action is to add a memory anchor. Recall Challenge stays disabled until the room contains an anchor. Duplicate palace names are rejected. These limits are validation choices in the current implementation, rather than claims about the maximum capacity of the underlying technologies.</a:t>
            </a:r>
          </a:p>
          <a:p xmlns:a="http://schemas.openxmlformats.org/drawingml/2006/main">
            <a:r>
              <a:t>Sources: src/components/ui/AddRoomModal.tsx; src/store/usePalaceStore.ts; src/components/ui/ModeSwitcher.tsx.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modes have different jobs. Explore mode supports learning the material and becoming familiar with the location. Recall Challenge removes the title cue and darkens the scene. After an attempt, the student reveals the concept and gives a rating. The app accepts one rating per anchor in a recall session. Changing the room or mode clears the session, but saved mastery and review counts remain.</a:t>
            </a:r>
          </a:p>
          <a:p xmlns:a="http://schemas.openxmlformats.org/drawingml/2006/main">
            <a:r>
              <a:t>Sources: src/components/ui/AnchorDrawer.tsx; src/components/three/Scene.tsx; src/store/usePalaceStore.ts.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assigning Binary Trees to a memorable artifact near one corner of the room. First read the definition, draw an example, and connect the idea with that location. During Recall Challenge, identify the concept and explain it before revealing the note. A correct label alone is not the same as full understanding, so the student should also solve relevant exercises. The artifact is a memory cue. It is not a visual simulation of the data structure.</a:t>
            </a:r>
          </a:p>
          <a:p xmlns:a="http://schemas.openxmlformats.org/drawingml/2006/main">
            <a:r>
              <a:t>Source: project workflow in README.md; illustrative classroom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value is the study workflow and the ability to make subject-specific spaces. Students can use it for terminology, definitions, historical events, or programming concepts. Lecturers can demonstrate how to build associations and ask students to explain a concept after recalling it. This version does not provide a teacher account or class analytics. Those would require additional backend and permission features. The benefits listed here describe intended uses and implemented affordances, not measured improvements in grades.</a:t>
            </a:r>
          </a:p>
          <a:p xmlns:a="http://schemas.openxmlformats.org/drawingml/2006/main">
            <a:r>
              <a:t>Source: implemented features in README.md; proposed educational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TypeScript is the main programming language. TSX combines TypeScript with the component markup used by React. HTML describes the document structure and CSS controls its appearance. Next.js is a framework, React is a UI library, and Node.js is the runtime used for development and serving the build. Three.js handles the graphics, while React Three Fiber integrates that scene with React. JSON is a data format used for saved data and exports. There is no Python or Java backend in the website.</a:t>
            </a:r>
          </a:p>
          <a:p xmlns:a="http://schemas.openxmlformats.org/drawingml/2006/main">
            <a:r>
              <a:t>Source: package.json; src/lib/types.ts; src/app/globals.css.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separates responsibilities into modules. The App Router page mounts the NeuroQuest workspace. The workspace brings together study controls and a dynamically loaded scene. The scene has server rendering disabled because WebGL requires the browser. Components subscribe to specific parts of the Zustand store. Unsaved form inputs remain local to the form, so typing does not update the shared scene state on every keystroke. This separation makes the implementation easier to maintain.</a:t>
            </a:r>
          </a:p>
          <a:p xmlns:a="http://schemas.openxmlformats.org/drawingml/2006/main">
            <a:r>
              <a:t>Sources: src/app/page.tsx; src/components/NeuroQuest.tsx; src/store/usePalaceStore.ts.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Three.js renders the scene through WebGL. React Three Fiber manages declarative objects, and Drei provides useful controls and labels. Selecting an anchor updates a camera target. The camera controller moves to it smoothly, while bounded controls prevent extreme movement. Postprocessing adds a glow, with Bloom threshold 0.6 and intensity 1.2. Reduced-motion users receive immediate camera framing and no idle artifact movement. React Three Fiber disposes of declarative geometries and materials on unmount, and the camera controller cancels unused tweens.</a:t>
            </a:r>
          </a:p>
          <a:p xmlns:a="http://schemas.openxmlformats.org/drawingml/2006/main">
            <a:r>
              <a:t>Sources: src/components/three/Scene.tsx, MemoryAnchor.tsx, CameraController.tsx, PostProcessing.tsx.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uses Zustand persistence to save selected state as JSON in localStorage. The saved data is validated when loaded. Version 1 data migrates to version 2, which includes custom rooms. Camera position and the current recall-session ratings are temporary. The stored latest review time and count are not a complete history of every answer. Export all palaces downloads a snapshot, but the app currently has no interface for importing that snapshot. Students should understand that their data belongs to this browser and origin.</a:t>
            </a:r>
          </a:p>
          <a:p xmlns:a="http://schemas.openxmlformats.org/drawingml/2006/main">
            <a:r>
              <a:t>Source: src/store/usePalaceStore.ts; exportPalace in src/components/NeuroQuest.tsx.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is important to distinguish the web server from an application backend. Node.js and Next.js serve this website, but the project does not currently have server-side study APIs, accounts, or a database. A future version could add authenticated Route Handlers and PostgreSQL tables. Every request would need server-side validation and ownership checks. Shared classroom features would also need role and permission design. We should present this as future development, not describe it as an existing backend.</a:t>
            </a:r>
          </a:p>
          <a:p xmlns:a="http://schemas.openxmlformats.org/drawingml/2006/main">
            <a:r>
              <a:t>Sources: project source inventory, package.json, README.md. Future architecture is a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walkthrough of the implementation stages represented by the project. TypeScript types define the data. The UI then provides a way to create and inspect it. Zustand connects those actions to the 3D objects and camera. Recall logic updates retention status, while persistence keeps selected values after refresh. The project uses automated state tests, linting, type checks, formatting, and a production build. To run it locally, install Node.js 20.9 or newer, run npm ci, and start the development server.</a:t>
            </a:r>
          </a:p>
          <a:p xmlns:a="http://schemas.openxmlformats.org/drawingml/2006/main">
            <a:r>
              <a:t>Sources: README.md; package.json; tests/store.test.ts.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tests focus on state behavior, including rating rules, room changes, adding and editing anchors, persistence, and migration. Recent browser checks verified the custom-room form on desktop and mobile layouts. The browser used for those checks showed the HTML fallback, so those checks do not establish 3D performance on every graphics device. For a college demonstration, test the actual laptop and projector in advance. Educational effectiveness needs a separate student study.</a:t>
            </a:r>
          </a:p>
          <a:p xmlns:a="http://schemas.openxmlformats.org/drawingml/2006/main">
            <a:r>
              <a:t>Sources: tests/store.test.ts; prior successful test/build results; UI verification;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should describe both the value and the limits honestly. The current version offers an individual study experience. It has no cloud backup, and a mastery label is a student's own assessment. A future system could add scheduled revision, account-based access, and lecturer-created material. Before claiming a learning advantage, we would compare groups using the same content and study time, then measure recall after a delay. That would test the learning experience rather than only the software.</a:t>
            </a:r>
          </a:p>
          <a:p xmlns:a="http://schemas.openxmlformats.org/drawingml/2006/main">
            <a:r>
              <a:t>Sources: README.md; proposed roadmap and evaluation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takes about three minutes. Introduce one existing anchor first, then create a new subject only if there is no palace with that name already. Add a short concept such as the Pythagorean theorem, with its condition that the triangle is right-angled. Use Recall Challenge to demonstrate an answer attempt followed by reveal and rating. Refresh to show local saving. If the room fails to render, the HTML list still demonstrates the study workflow. Avoid deleting or changing another person's notes.</a:t>
            </a:r>
          </a:p>
          <a:p xmlns:a="http://schemas.openxmlformats.org/drawingml/2006/main">
            <a:r>
              <a:t>Source: implemented workflow and fallback in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purpose of NeuroQuest is to help students connect information with places and practise retrieval in a personal study environment. Our project combines a responsive frontend, interactive 3D graphics, and local persistence. The next stage is to test the experience with learners and, if useful, add a secure backend for synchronization and teaching workflows. Thank you. We welcome questions about the learning idea, how the website works, and what we would improve next.</a:t>
            </a:r>
          </a:p>
          <a:p xmlns:a="http://schemas.openxmlformats.org/drawingml/2006/main">
            <a:r>
              <a:t>Source: project implementation and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f9c7dd18bd4d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0c909139d0407c" /><Relationship Type="http://schemas.openxmlformats.org/officeDocument/2006/relationships/slideLayout" Target="/ppt/slideLayouts/slideLayout1.xml" Id="R555e02dab8c849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5e02dab8c849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adb4ee7df240c7" /><Relationship Type="http://schemas.openxmlformats.org/officeDocument/2006/relationships/image" Target="/ppt/media/image.png" Id="Ra90599ad42ab4cb4" /><Relationship Type="http://schemas.openxmlformats.org/officeDocument/2006/relationships/notesSlide" Target="/ppt/notesSlides/notesSlide1.xml" Id="Rb71837171db646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5872b233124fd7" /><Relationship Type="http://schemas.openxmlformats.org/officeDocument/2006/relationships/notesSlide" Target="/ppt/notesSlides/notesSlide2.xml" Id="R1792073f70844f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302adcf0e0476c" /><Relationship Type="http://schemas.openxmlformats.org/officeDocument/2006/relationships/notesSlide" Target="/ppt/notesSlides/notesSlide3.xml" Id="R768c28a6bc2142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e10f4dd60040bc" /><Relationship Type="http://schemas.openxmlformats.org/officeDocument/2006/relationships/notesSlide" Target="/ppt/notesSlides/notesSlide4.xml" Id="Ref8a87818d214e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2f9fe80e5c4a92" /><Relationship Type="http://schemas.openxmlformats.org/officeDocument/2006/relationships/notesSlide" Target="/ppt/notesSlides/notesSlide5.xml" Id="Ra8389a834bb74c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bd7b838d824a54" /><Relationship Type="http://schemas.openxmlformats.org/officeDocument/2006/relationships/notesSlide" Target="/ppt/notesSlides/notesSlide6.xml" Id="Rfa8372d0b1134b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7a098f7df94b10" /><Relationship Type="http://schemas.openxmlformats.org/officeDocument/2006/relationships/notesSlide" Target="/ppt/notesSlides/notesSlide7.xml" Id="R2e3a578d12dc47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d772776b134a60" /><Relationship Type="http://schemas.openxmlformats.org/officeDocument/2006/relationships/notesSlide" Target="/ppt/notesSlides/notesSlide8.xml" Id="R7af4917ebc314a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ef60b818e04a73" /><Relationship Type="http://schemas.openxmlformats.org/officeDocument/2006/relationships/notesSlide" Target="/ppt/notesSlides/notesSlide9.xml" Id="R22e572fe0fda41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6d2ae2d91d4445" /><Relationship Type="http://schemas.openxmlformats.org/officeDocument/2006/relationships/notesSlide" Target="/ppt/notesSlides/notesSlide10.xml" Id="R008240ef495745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194467dacc4956" /><Relationship Type="http://schemas.openxmlformats.org/officeDocument/2006/relationships/notesSlide" Target="/ppt/notesSlides/notesSlide11.xml" Id="Rc8819aa245d44a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df4b1c65454e52" /><Relationship Type="http://schemas.openxmlformats.org/officeDocument/2006/relationships/notesSlide" Target="/ppt/notesSlides/notesSlide12.xml" Id="R0b86992ba3ac41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2c8336148db4cf4" /><Relationship Type="http://schemas.openxmlformats.org/officeDocument/2006/relationships/notesSlide" Target="/ppt/notesSlides/notesSlide13.xml" Id="Rda4cd1e97d764b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ead207ef7d47d2" /><Relationship Type="http://schemas.openxmlformats.org/officeDocument/2006/relationships/notesSlide" Target="/ppt/notesSlides/notesSlide14.xml" Id="R5eda8366d3da42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e9e011ea04b48ce" /><Relationship Type="http://schemas.openxmlformats.org/officeDocument/2006/relationships/notesSlide" Target="/ppt/notesSlides/notesSlide15.xml" Id="Rfca647858b5349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77681f24ff4dd3" /><Relationship Type="http://schemas.openxmlformats.org/officeDocument/2006/relationships/notesSlide" Target="/ppt/notesSlides/notesSlide16.xml" Id="R31de09a3b49746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85ad9d6800b4c80" /><Relationship Type="http://schemas.openxmlformats.org/officeDocument/2006/relationships/notesSlide" Target="/ppt/notesSlides/notesSlide17.xml" Id="R26d1158cde104b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1ea06d2df964856" /><Relationship Type="http://schemas.openxmlformats.org/officeDocument/2006/relationships/notesSlide" Target="/ppt/notesSlides/notesSlide18.xml" Id="R36ad7535096448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12dc7d171004d44" /><Relationship Type="http://schemas.openxmlformats.org/officeDocument/2006/relationships/notesSlide" Target="/ppt/notesSlides/notesSlide19.xml" Id="Rc0ff0c6082824b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ef46800664f4414" /><Relationship Type="http://schemas.openxmlformats.org/officeDocument/2006/relationships/notesSlide" Target="/ppt/notesSlides/notesSlide20.xml" Id="R246f2069496144be" /></Relationships>
</file>

<file path=ppt/slides/slide1.xml><?xml version="1.0" encoding="utf-8"?>
<p:sld xmlns:p="http://schemas.openxmlformats.org/presentationml/2006/main">
  <p:cSld>
    <p:bg>
      <p:bgPr>
        <a:solidFill xmlns:a="http://schemas.openxmlformats.org/drawingml/2006/main">
          <a:srgbClr val="11152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90599ad42ab4cb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BD76A16A-5160-48F4-95D1-475C332FE232}"/>
              </a:ext>
            </a:extLst>
          </p:cNvPr>
          <p:cNvSpPr>
            <a:spLocks xmlns:a="http://schemas.openxmlformats.org/drawingml/2006/main" noGrp="1"/>
          </p:cNvSpPr>
          <p:nvPr/>
        </p:nvSpPr>
        <p:spPr>
          <a:xfrm xmlns:a="http://schemas.openxmlformats.org/drawingml/2006/main">
            <a:off x="685800" y="2114550"/>
            <a:ext cx="5619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NeuroQuest</a:t>
            </a:r>
          </a:p>
        </p:txBody>
      </p:sp>
      <p:sp>
        <p:nvSpPr>
          <p:cNvPr id="3" name="text-1">
            <a:extLst xmlns:a="http://schemas.openxmlformats.org/drawingml/2006/main">
              <a:ext uri="{FF2B5EF4-FFF2-40B4-BE49-F238E27FC236}">
                <a16:creationId xmlns:a16="http://schemas.microsoft.com/office/drawing/2014/main" id="{2ACDF5B2-2CBA-47F2-B821-BF0710AC7C55}"/>
              </a:ext>
            </a:extLst>
          </p:cNvPr>
          <p:cNvSpPr>
            <a:spLocks xmlns:a="http://schemas.openxmlformats.org/drawingml/2006/main" noGrp="1"/>
          </p:cNvSpPr>
          <p:nvPr/>
        </p:nvSpPr>
        <p:spPr>
          <a:xfrm xmlns:a="http://schemas.openxmlformats.org/drawingml/2006/main">
            <a:off x="733425" y="3228975"/>
            <a:ext cx="5429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E3DBF5"/>
                </a:solidFill>
                <a:latin typeface="Arial"/>
                <a:ea typeface="Arial"/>
                <a:cs typeface="Arial"/>
              </a:defRPr>
            </a:pPr>
            <a:r>
              <a:rPr sz="2475" b="0">
                <a:solidFill>
                  <a:srgbClr val="E3DBF5"/>
                </a:solidFill>
                <a:latin typeface="Arial"/>
                <a:ea typeface="Arial"/>
                <a:cs typeface="Arial"/>
              </a:rPr>
              <a:t>The 3D Spatial Memory Palace</a:t>
            </a:r>
          </a:p>
          <a:p xmlns:a="http://schemas.openxmlformats.org/drawingml/2006/main">
            <a:pPr>
              <a:defRPr sz="2475" b="0">
                <a:solidFill>
                  <a:srgbClr val="E3DBF5"/>
                </a:solidFill>
                <a:latin typeface="Arial"/>
                <a:ea typeface="Arial"/>
                <a:cs typeface="Arial"/>
              </a:defRPr>
            </a:pPr>
            <a:r>
              <a:rPr sz="2475" b="0">
                <a:solidFill>
                  <a:srgbClr val="E3DBF5"/>
                </a:solidFill>
                <a:latin typeface="Arial"/>
                <a:ea typeface="Arial"/>
                <a:cs typeface="Arial"/>
              </a:rPr>
              <a:t>for Education</a:t>
            </a:r>
          </a:p>
        </p:txBody>
      </p:sp>
      <p:sp>
        <p:nvSpPr>
          <p:cNvPr id="4" name="text-2">
            <a:extLst xmlns:a="http://schemas.openxmlformats.org/drawingml/2006/main">
              <a:ext uri="{FF2B5EF4-FFF2-40B4-BE49-F238E27FC236}">
                <a16:creationId xmlns:a16="http://schemas.microsoft.com/office/drawing/2014/main" id="{456D32E0-72BC-4517-ADC3-2E6D78F1E37A}"/>
              </a:ext>
            </a:extLst>
          </p:cNvPr>
          <p:cNvSpPr>
            <a:spLocks xmlns:a="http://schemas.openxmlformats.org/drawingml/2006/main" noGrp="1"/>
          </p:cNvSpPr>
          <p:nvPr/>
        </p:nvSpPr>
        <p:spPr>
          <a:xfrm xmlns:a="http://schemas.openxmlformats.org/drawingml/2006/main">
            <a:off x="733425" y="7810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BDA2FF"/>
                </a:solidFill>
                <a:latin typeface="Arial"/>
                <a:ea typeface="Arial"/>
                <a:cs typeface="Arial"/>
              </a:defRPr>
            </a:pPr>
            <a:r>
              <a:rPr sz="1425" b="1">
                <a:solidFill>
                  <a:srgbClr val="BDA2FF"/>
                </a:solidFill>
                <a:latin typeface="Arial"/>
                <a:ea typeface="Arial"/>
                <a:cs typeface="Arial"/>
              </a:rPr>
              <a:t>COLLEGE PROJECT PRESENTATION</a:t>
            </a:r>
          </a:p>
        </p:txBody>
      </p:sp>
      <p:sp>
        <p:nvSpPr>
          <p:cNvPr id="5" name="text-3">
            <a:extLst xmlns:a="http://schemas.openxmlformats.org/drawingml/2006/main">
              <a:ext uri="{FF2B5EF4-FFF2-40B4-BE49-F238E27FC236}">
                <a16:creationId xmlns:a16="http://schemas.microsoft.com/office/drawing/2014/main" id="{CA3A1D06-4A5F-45D1-AD69-F25A6906CB51}"/>
              </a:ext>
            </a:extLst>
          </p:cNvPr>
          <p:cNvSpPr>
            <a:spLocks xmlns:a="http://schemas.openxmlformats.org/drawingml/2006/main" noGrp="1"/>
          </p:cNvSpPr>
          <p:nvPr/>
        </p:nvSpPr>
        <p:spPr>
          <a:xfrm xmlns:a="http://schemas.openxmlformats.org/drawingml/2006/main">
            <a:off x="733425" y="59340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C3BDCF"/>
                </a:solidFill>
                <a:latin typeface="Arial"/>
                <a:ea typeface="Arial"/>
                <a:cs typeface="Arial"/>
              </a:defRPr>
            </a:pPr>
            <a:r>
              <a:rPr sz="1650" b="0">
                <a:solidFill>
                  <a:srgbClr val="C3BDCF"/>
                </a:solidFill>
                <a:latin typeface="Arial"/>
                <a:ea typeface="Arial"/>
                <a:cs typeface="Arial"/>
              </a:rPr>
              <a:t>NeuroQuest Project Team</a:t>
            </a:r>
          </a:p>
        </p:txBody>
      </p:sp>
    </p:spTree>
    <p:extLst>
      <p:ext uri="{BB962C8B-B14F-4D97-AF65-F5344CB8AC3E}">
        <p14:creationId xmlns:p14="http://schemas.microsoft.com/office/powerpoint/2010/main" val="2108701504"/>
      </p:ext>
    </p:extLst>
  </p:cSld>
</p:sld>
</file>

<file path=ppt/slides/slide2.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92F94CF-B3D0-491A-8BF6-526E935F7995}"/>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The purpose of NeuroQuest</a:t>
            </a:r>
          </a:p>
        </p:txBody>
      </p:sp>
      <p:sp>
        <p:nvSpPr>
          <p:cNvPr id="2" name="text-1">
            <a:extLst xmlns:a="http://schemas.openxmlformats.org/drawingml/2006/main">
              <a:ext uri="{FF2B5EF4-FFF2-40B4-BE49-F238E27FC236}">
                <a16:creationId xmlns:a16="http://schemas.microsoft.com/office/drawing/2014/main" id="{254CA4EF-F201-464D-8236-133D75276D17}"/>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C86FAE44-E556-4A54-98EF-B5B07331FE1F}"/>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F905F3D3-399B-49B2-BE79-47C2060085A0}"/>
              </a:ext>
            </a:extLst>
          </p:cNvPr>
          <p:cNvSpPr>
            <a:spLocks xmlns:a="http://schemas.openxmlformats.org/drawingml/2006/main" noGrp="1"/>
          </p:cNvSpPr>
          <p:nvPr/>
        </p:nvSpPr>
        <p:spPr>
          <a:xfrm xmlns:a="http://schemas.openxmlformats.org/drawingml/2006/main">
            <a:off x="685800" y="1714500"/>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7651C8"/>
                </a:solidFill>
                <a:latin typeface="Arial"/>
                <a:ea typeface="Arial"/>
                <a:cs typeface="Arial"/>
              </a:defRPr>
            </a:pPr>
            <a:r>
              <a:rPr sz="3000" b="1">
                <a:solidFill>
                  <a:srgbClr val="7651C8"/>
                </a:solidFill>
                <a:latin typeface="Arial"/>
                <a:ea typeface="Arial"/>
                <a:cs typeface="Arial"/>
              </a:rPr>
              <a:t>Help students organize concepts in memorable places and practise recalling them before checking their notes.</a:t>
            </a:r>
          </a:p>
        </p:txBody>
      </p:sp>
      <p:sp>
        <p:nvSpPr>
          <p:cNvPr id="5" name="text-4">
            <a:extLst xmlns:a="http://schemas.openxmlformats.org/drawingml/2006/main">
              <a:ext uri="{FF2B5EF4-FFF2-40B4-BE49-F238E27FC236}">
                <a16:creationId xmlns:a16="http://schemas.microsoft.com/office/drawing/2014/main" id="{6B50BB51-163F-429C-96D2-F97ECD08E40A}"/>
              </a:ext>
            </a:extLst>
          </p:cNvPr>
          <p:cNvSpPr>
            <a:spLocks xmlns:a="http://schemas.openxmlformats.org/drawingml/2006/main" noGrp="1"/>
          </p:cNvSpPr>
          <p:nvPr/>
        </p:nvSpPr>
        <p:spPr>
          <a:xfrm xmlns:a="http://schemas.openxmlformats.org/drawingml/2006/main">
            <a:off x="685800" y="38195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41E36"/>
                </a:solidFill>
                <a:latin typeface="Arial"/>
                <a:ea typeface="Arial"/>
                <a:cs typeface="Arial"/>
              </a:defRPr>
            </a:pPr>
            <a:r>
              <a:rPr sz="2175" b="1">
                <a:solidFill>
                  <a:srgbClr val="241E36"/>
                </a:solidFill>
                <a:latin typeface="Arial"/>
                <a:ea typeface="Arial"/>
                <a:cs typeface="Arial"/>
              </a:rPr>
              <a:t>A place for each idea</a:t>
            </a:r>
          </a:p>
        </p:txBody>
      </p:sp>
      <p:sp>
        <p:nvSpPr>
          <p:cNvPr id="6" name="text-5">
            <a:extLst xmlns:a="http://schemas.openxmlformats.org/drawingml/2006/main">
              <a:ext uri="{FF2B5EF4-FFF2-40B4-BE49-F238E27FC236}">
                <a16:creationId xmlns:a16="http://schemas.microsoft.com/office/drawing/2014/main" id="{35C9DB5A-0F29-4A73-9541-53A51474F857}"/>
              </a:ext>
            </a:extLst>
          </p:cNvPr>
          <p:cNvSpPr>
            <a:spLocks xmlns:a="http://schemas.openxmlformats.org/drawingml/2006/main" noGrp="1"/>
          </p:cNvSpPr>
          <p:nvPr/>
        </p:nvSpPr>
        <p:spPr>
          <a:xfrm xmlns:a="http://schemas.openxmlformats.org/drawingml/2006/main">
            <a:off x="685800" y="44386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Connect a concept with an object and a location.</a:t>
            </a:r>
          </a:p>
        </p:txBody>
      </p:sp>
      <p:sp>
        <p:nvSpPr>
          <p:cNvPr id="7" name="text-6">
            <a:extLst xmlns:a="http://schemas.openxmlformats.org/drawingml/2006/main">
              <a:ext uri="{FF2B5EF4-FFF2-40B4-BE49-F238E27FC236}">
                <a16:creationId xmlns:a16="http://schemas.microsoft.com/office/drawing/2014/main" id="{30F8101E-1236-4FE2-8467-758D5567C907}"/>
              </a:ext>
            </a:extLst>
          </p:cNvPr>
          <p:cNvSpPr>
            <a:spLocks xmlns:a="http://schemas.openxmlformats.org/drawingml/2006/main" noGrp="1"/>
          </p:cNvSpPr>
          <p:nvPr/>
        </p:nvSpPr>
        <p:spPr>
          <a:xfrm xmlns:a="http://schemas.openxmlformats.org/drawingml/2006/main">
            <a:off x="4400550" y="38195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41E36"/>
                </a:solidFill>
                <a:latin typeface="Arial"/>
                <a:ea typeface="Arial"/>
                <a:cs typeface="Arial"/>
              </a:defRPr>
            </a:pPr>
            <a:r>
              <a:rPr sz="2175" b="1">
                <a:solidFill>
                  <a:srgbClr val="241E36"/>
                </a:solidFill>
                <a:latin typeface="Arial"/>
                <a:ea typeface="Arial"/>
                <a:cs typeface="Arial"/>
              </a:rPr>
              <a:t>A reason to retrieve</a:t>
            </a:r>
          </a:p>
        </p:txBody>
      </p:sp>
      <p:sp>
        <p:nvSpPr>
          <p:cNvPr id="8" name="text-7">
            <a:extLst xmlns:a="http://schemas.openxmlformats.org/drawingml/2006/main">
              <a:ext uri="{FF2B5EF4-FFF2-40B4-BE49-F238E27FC236}">
                <a16:creationId xmlns:a16="http://schemas.microsoft.com/office/drawing/2014/main" id="{381A78F9-AEC1-457B-9CD4-F5F983EA2B0C}"/>
              </a:ext>
            </a:extLst>
          </p:cNvPr>
          <p:cNvSpPr>
            <a:spLocks xmlns:a="http://schemas.openxmlformats.org/drawingml/2006/main" noGrp="1"/>
          </p:cNvSpPr>
          <p:nvPr/>
        </p:nvSpPr>
        <p:spPr>
          <a:xfrm xmlns:a="http://schemas.openxmlformats.org/drawingml/2006/main">
            <a:off x="4400550" y="44386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Hide the answer during Recall Challenge.</a:t>
            </a:r>
          </a:p>
        </p:txBody>
      </p:sp>
      <p:sp>
        <p:nvSpPr>
          <p:cNvPr id="9" name="text-8">
            <a:extLst xmlns:a="http://schemas.openxmlformats.org/drawingml/2006/main">
              <a:ext uri="{FF2B5EF4-FFF2-40B4-BE49-F238E27FC236}">
                <a16:creationId xmlns:a16="http://schemas.microsoft.com/office/drawing/2014/main" id="{2C7E3069-F0A4-4727-9590-308A0173F588}"/>
              </a:ext>
            </a:extLst>
          </p:cNvPr>
          <p:cNvSpPr>
            <a:spLocks xmlns:a="http://schemas.openxmlformats.org/drawingml/2006/main" noGrp="1"/>
          </p:cNvSpPr>
          <p:nvPr/>
        </p:nvSpPr>
        <p:spPr>
          <a:xfrm xmlns:a="http://schemas.openxmlformats.org/drawingml/2006/main">
            <a:off x="8115300" y="38195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41E36"/>
                </a:solidFill>
                <a:latin typeface="Arial"/>
                <a:ea typeface="Arial"/>
                <a:cs typeface="Arial"/>
              </a:defRPr>
            </a:pPr>
            <a:r>
              <a:rPr sz="2175" b="1">
                <a:solidFill>
                  <a:srgbClr val="241E36"/>
                </a:solidFill>
                <a:latin typeface="Arial"/>
                <a:ea typeface="Arial"/>
                <a:cs typeface="Arial"/>
              </a:rPr>
              <a:t>A personal study space</a:t>
            </a:r>
          </a:p>
        </p:txBody>
      </p:sp>
      <p:sp>
        <p:nvSpPr>
          <p:cNvPr id="10" name="text-9">
            <a:extLst xmlns:a="http://schemas.openxmlformats.org/drawingml/2006/main">
              <a:ext uri="{FF2B5EF4-FFF2-40B4-BE49-F238E27FC236}">
                <a16:creationId xmlns:a16="http://schemas.microsoft.com/office/drawing/2014/main" id="{521A80AA-B720-4101-BE44-0F4C7945F6ED}"/>
              </a:ext>
            </a:extLst>
          </p:cNvPr>
          <p:cNvSpPr>
            <a:spLocks xmlns:a="http://schemas.openxmlformats.org/drawingml/2006/main" noGrp="1"/>
          </p:cNvSpPr>
          <p:nvPr/>
        </p:nvSpPr>
        <p:spPr>
          <a:xfrm xmlns:a="http://schemas.openxmlformats.org/drawingml/2006/main">
            <a:off x="8115300" y="44386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Create subject palaces and track self-rated progress.</a:t>
            </a:r>
          </a:p>
        </p:txBody>
      </p:sp>
    </p:spTree>
    <p:extLst>
      <p:ext uri="{BB962C8B-B14F-4D97-AF65-F5344CB8AC3E}">
        <p14:creationId xmlns:p14="http://schemas.microsoft.com/office/powerpoint/2010/main" val="1868751293"/>
      </p:ext>
    </p:extLst>
  </p:cSld>
</p:sld>
</file>

<file path=ppt/slides/slide3.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8AFB7FFF-60C4-4F19-8675-D6FF704CF0CC}"/>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The learning problem</a:t>
            </a:r>
          </a:p>
        </p:txBody>
      </p:sp>
      <p:sp>
        <p:nvSpPr>
          <p:cNvPr id="2" name="text-1">
            <a:extLst xmlns:a="http://schemas.openxmlformats.org/drawingml/2006/main">
              <a:ext uri="{FF2B5EF4-FFF2-40B4-BE49-F238E27FC236}">
                <a16:creationId xmlns:a16="http://schemas.microsoft.com/office/drawing/2014/main" id="{4530ED82-37C4-474C-9BE9-5D26201C76EB}"/>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FB85B79E-6EC6-489D-B8DD-A3A660F76439}"/>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7BD8954B-9FD9-4360-8C33-D28D4B51A7D6}"/>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Study challenges</a:t>
            </a:r>
          </a:p>
        </p:txBody>
      </p:sp>
      <p:sp>
        <p:nvSpPr>
          <p:cNvPr id="5" name="text-4">
            <a:extLst xmlns:a="http://schemas.openxmlformats.org/drawingml/2006/main">
              <a:ext uri="{FF2B5EF4-FFF2-40B4-BE49-F238E27FC236}">
                <a16:creationId xmlns:a16="http://schemas.microsoft.com/office/drawing/2014/main" id="{D88AE8A2-A111-4E41-8071-0E436D2A1A98}"/>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Notes can become difficult to navigate.</a:t>
            </a:r>
          </a:p>
        </p:txBody>
      </p:sp>
      <p:sp>
        <p:nvSpPr>
          <p:cNvPr id="6" name="text-5">
            <a:extLst xmlns:a="http://schemas.openxmlformats.org/drawingml/2006/main">
              <a:ext uri="{FF2B5EF4-FFF2-40B4-BE49-F238E27FC236}">
                <a16:creationId xmlns:a16="http://schemas.microsoft.com/office/drawing/2014/main" id="{F6473F43-A92A-4CCB-9EA2-DDC40868300A}"/>
              </a:ext>
            </a:extLst>
          </p:cNvPr>
          <p:cNvSpPr>
            <a:spLocks xmlns:a="http://schemas.openxmlformats.org/drawingml/2006/main" noGrp="1"/>
          </p:cNvSpPr>
          <p:nvPr/>
        </p:nvSpPr>
        <p:spPr>
          <a:xfrm xmlns:a="http://schemas.openxmlformats.org/drawingml/2006/main">
            <a:off x="68580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Recognizing an answer can feel like remembering it.</a:t>
            </a:r>
          </a:p>
        </p:txBody>
      </p:sp>
      <p:sp>
        <p:nvSpPr>
          <p:cNvPr id="7" name="text-6">
            <a:extLst xmlns:a="http://schemas.openxmlformats.org/drawingml/2006/main">
              <a:ext uri="{FF2B5EF4-FFF2-40B4-BE49-F238E27FC236}">
                <a16:creationId xmlns:a16="http://schemas.microsoft.com/office/drawing/2014/main" id="{E6620547-6A14-4B36-9F65-8F6DCCDEEF02}"/>
              </a:ext>
            </a:extLst>
          </p:cNvPr>
          <p:cNvSpPr>
            <a:spLocks xmlns:a="http://schemas.openxmlformats.org/drawingml/2006/main" noGrp="1"/>
          </p:cNvSpPr>
          <p:nvPr/>
        </p:nvSpPr>
        <p:spPr>
          <a:xfrm xmlns:a="http://schemas.openxmlformats.org/drawingml/2006/main">
            <a:off x="68580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Students need a simple way to revisit weak concepts.</a:t>
            </a:r>
          </a:p>
        </p:txBody>
      </p:sp>
      <p:sp>
        <p:nvSpPr>
          <p:cNvPr id="8" name="text-7">
            <a:extLst xmlns:a="http://schemas.openxmlformats.org/drawingml/2006/main">
              <a:ext uri="{FF2B5EF4-FFF2-40B4-BE49-F238E27FC236}">
                <a16:creationId xmlns:a16="http://schemas.microsoft.com/office/drawing/2014/main" id="{BCBFF684-40FF-4B78-85F6-C9D03F155809}"/>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Our design response</a:t>
            </a:r>
          </a:p>
        </p:txBody>
      </p:sp>
      <p:sp>
        <p:nvSpPr>
          <p:cNvPr id="9" name="text-8">
            <a:extLst xmlns:a="http://schemas.openxmlformats.org/drawingml/2006/main">
              <a:ext uri="{FF2B5EF4-FFF2-40B4-BE49-F238E27FC236}">
                <a16:creationId xmlns:a16="http://schemas.microsoft.com/office/drawing/2014/main" id="{D5B195AD-E2EC-40CF-980B-985CC3B67C62}"/>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Separate subjects into named palaces.</a:t>
            </a:r>
          </a:p>
        </p:txBody>
      </p:sp>
      <p:sp>
        <p:nvSpPr>
          <p:cNvPr id="10" name="text-9">
            <a:extLst xmlns:a="http://schemas.openxmlformats.org/drawingml/2006/main">
              <a:ext uri="{FF2B5EF4-FFF2-40B4-BE49-F238E27FC236}">
                <a16:creationId xmlns:a16="http://schemas.microsoft.com/office/drawing/2014/main" id="{B6FA086F-9D6D-4884-B533-F11522481335}"/>
              </a:ext>
            </a:extLst>
          </p:cNvPr>
          <p:cNvSpPr>
            <a:spLocks xmlns:a="http://schemas.openxmlformats.org/drawingml/2006/main" noGrp="1"/>
          </p:cNvSpPr>
          <p:nvPr/>
        </p:nvSpPr>
        <p:spPr>
          <a:xfrm xmlns:a="http://schemas.openxmlformats.org/drawingml/2006/main">
            <a:off x="634365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Use location and artifact identity as cues.</a:t>
            </a:r>
          </a:p>
        </p:txBody>
      </p:sp>
      <p:sp>
        <p:nvSpPr>
          <p:cNvPr id="11" name="text-10">
            <a:extLst xmlns:a="http://schemas.openxmlformats.org/drawingml/2006/main">
              <a:ext uri="{FF2B5EF4-FFF2-40B4-BE49-F238E27FC236}">
                <a16:creationId xmlns:a16="http://schemas.microsoft.com/office/drawing/2014/main" id="{A540A111-EAA4-40E8-9CE8-8E398FF0CC7F}"/>
              </a:ext>
            </a:extLst>
          </p:cNvPr>
          <p:cNvSpPr>
            <a:spLocks xmlns:a="http://schemas.openxmlformats.org/drawingml/2006/main" noGrp="1"/>
          </p:cNvSpPr>
          <p:nvPr/>
        </p:nvSpPr>
        <p:spPr>
          <a:xfrm xmlns:a="http://schemas.openxmlformats.org/drawingml/2006/main">
            <a:off x="634365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Reveal answers after a recall attempt and record a rating.</a:t>
            </a:r>
          </a:p>
        </p:txBody>
      </p:sp>
      <p:sp>
        <p:nvSpPr>
          <p:cNvPr id="12" name="text-11">
            <a:extLst xmlns:a="http://schemas.openxmlformats.org/drawingml/2006/main">
              <a:ext uri="{FF2B5EF4-FFF2-40B4-BE49-F238E27FC236}">
                <a16:creationId xmlns:a16="http://schemas.microsoft.com/office/drawing/2014/main" id="{54643C8E-A7BD-4D91-BF0D-19D82C89AE09}"/>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The project addresses a study workflow. Its effect on student marks has not been measured.</a:t>
            </a:r>
          </a:p>
        </p:txBody>
      </p:sp>
    </p:spTree>
    <p:extLst>
      <p:ext uri="{BB962C8B-B14F-4D97-AF65-F5344CB8AC3E}">
        <p14:creationId xmlns:p14="http://schemas.microsoft.com/office/powerpoint/2010/main" val="2031176918"/>
      </p:ext>
    </p:extLst>
  </p:cSld>
</p:sld>
</file>

<file path=ppt/slides/slide4.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4ACC202C-AF6D-42D3-8DCF-61F24EC3CD6F}"/>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The memory palace idea</a:t>
            </a:r>
          </a:p>
        </p:txBody>
      </p:sp>
      <p:sp>
        <p:nvSpPr>
          <p:cNvPr id="2" name="text-1">
            <a:extLst xmlns:a="http://schemas.openxmlformats.org/drawingml/2006/main">
              <a:ext uri="{FF2B5EF4-FFF2-40B4-BE49-F238E27FC236}">
                <a16:creationId xmlns:a16="http://schemas.microsoft.com/office/drawing/2014/main" id="{A9E1565C-7830-423C-9F77-D5889D109F5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7C6BD6FF-3193-4340-B975-BE4CA8009CCD}"/>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D56A670F-534E-4922-A294-731CB9B174AB}"/>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Method of Loci</a:t>
            </a:r>
          </a:p>
        </p:txBody>
      </p:sp>
      <p:sp>
        <p:nvSpPr>
          <p:cNvPr id="5" name="text-4">
            <a:extLst xmlns:a="http://schemas.openxmlformats.org/drawingml/2006/main">
              <a:ext uri="{FF2B5EF4-FFF2-40B4-BE49-F238E27FC236}">
                <a16:creationId xmlns:a16="http://schemas.microsoft.com/office/drawing/2014/main" id="{B1B3AA23-98B0-449B-B8B9-7E4F940006D1}"/>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Associate information with distinct locations.</a:t>
            </a:r>
          </a:p>
        </p:txBody>
      </p:sp>
      <p:sp>
        <p:nvSpPr>
          <p:cNvPr id="6" name="text-5">
            <a:extLst xmlns:a="http://schemas.openxmlformats.org/drawingml/2006/main">
              <a:ext uri="{FF2B5EF4-FFF2-40B4-BE49-F238E27FC236}">
                <a16:creationId xmlns:a16="http://schemas.microsoft.com/office/drawing/2014/main" id="{0EFE59DB-D1D8-4629-BF3F-021B3D73021F}"/>
              </a:ext>
            </a:extLst>
          </p:cNvPr>
          <p:cNvSpPr>
            <a:spLocks xmlns:a="http://schemas.openxmlformats.org/drawingml/2006/main" noGrp="1"/>
          </p:cNvSpPr>
          <p:nvPr/>
        </p:nvSpPr>
        <p:spPr>
          <a:xfrm xmlns:a="http://schemas.openxmlformats.org/drawingml/2006/main">
            <a:off x="68580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Use a familiar route to revisit those associations.</a:t>
            </a:r>
          </a:p>
        </p:txBody>
      </p:sp>
      <p:sp>
        <p:nvSpPr>
          <p:cNvPr id="7" name="text-6">
            <a:extLst xmlns:a="http://schemas.openxmlformats.org/drawingml/2006/main">
              <a:ext uri="{FF2B5EF4-FFF2-40B4-BE49-F238E27FC236}">
                <a16:creationId xmlns:a16="http://schemas.microsoft.com/office/drawing/2014/main" id="{C60E2B85-A94E-47F1-9333-200FE5487E03}"/>
              </a:ext>
            </a:extLst>
          </p:cNvPr>
          <p:cNvSpPr>
            <a:spLocks xmlns:a="http://schemas.openxmlformats.org/drawingml/2006/main" noGrp="1"/>
          </p:cNvSpPr>
          <p:nvPr/>
        </p:nvSpPr>
        <p:spPr>
          <a:xfrm xmlns:a="http://schemas.openxmlformats.org/drawingml/2006/main">
            <a:off x="68580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In NeuroQuest, a geometric artifact holds the note.</a:t>
            </a:r>
          </a:p>
        </p:txBody>
      </p:sp>
      <p:sp>
        <p:nvSpPr>
          <p:cNvPr id="8" name="text-7">
            <a:extLst xmlns:a="http://schemas.openxmlformats.org/drawingml/2006/main">
              <a:ext uri="{FF2B5EF4-FFF2-40B4-BE49-F238E27FC236}">
                <a16:creationId xmlns:a16="http://schemas.microsoft.com/office/drawing/2014/main" id="{15216FC8-99EE-4C6E-8B5B-97A3D7B84201}"/>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Active recall</a:t>
            </a:r>
          </a:p>
        </p:txBody>
      </p:sp>
      <p:sp>
        <p:nvSpPr>
          <p:cNvPr id="9" name="text-8">
            <a:extLst xmlns:a="http://schemas.openxmlformats.org/drawingml/2006/main">
              <a:ext uri="{FF2B5EF4-FFF2-40B4-BE49-F238E27FC236}">
                <a16:creationId xmlns:a16="http://schemas.microsoft.com/office/drawing/2014/main" id="{7976693F-03A4-4414-A442-F705A8312566}"/>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Look at the location and attempt an answer.</a:t>
            </a:r>
          </a:p>
        </p:txBody>
      </p:sp>
      <p:sp>
        <p:nvSpPr>
          <p:cNvPr id="10" name="text-9">
            <a:extLst xmlns:a="http://schemas.openxmlformats.org/drawingml/2006/main">
              <a:ext uri="{FF2B5EF4-FFF2-40B4-BE49-F238E27FC236}">
                <a16:creationId xmlns:a16="http://schemas.microsoft.com/office/drawing/2014/main" id="{F70A57B8-1AD9-48BC-B33A-EE76412B8FCC}"/>
              </a:ext>
            </a:extLst>
          </p:cNvPr>
          <p:cNvSpPr>
            <a:spLocks xmlns:a="http://schemas.openxmlformats.org/drawingml/2006/main" noGrp="1"/>
          </p:cNvSpPr>
          <p:nvPr/>
        </p:nvSpPr>
        <p:spPr>
          <a:xfrm xmlns:a="http://schemas.openxmlformats.org/drawingml/2006/main">
            <a:off x="634365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Reveal the concept and compare.</a:t>
            </a:r>
          </a:p>
        </p:txBody>
      </p:sp>
      <p:sp>
        <p:nvSpPr>
          <p:cNvPr id="11" name="text-10">
            <a:extLst xmlns:a="http://schemas.openxmlformats.org/drawingml/2006/main">
              <a:ext uri="{FF2B5EF4-FFF2-40B4-BE49-F238E27FC236}">
                <a16:creationId xmlns:a16="http://schemas.microsoft.com/office/drawing/2014/main" id="{DB57F2FB-DF76-4D77-9674-9DB72D0F188A}"/>
              </a:ext>
            </a:extLst>
          </p:cNvPr>
          <p:cNvSpPr>
            <a:spLocks xmlns:a="http://schemas.openxmlformats.org/drawingml/2006/main" noGrp="1"/>
          </p:cNvSpPr>
          <p:nvPr/>
        </p:nvSpPr>
        <p:spPr>
          <a:xfrm xmlns:a="http://schemas.openxmlformats.org/drawingml/2006/main">
            <a:off x="634365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Rate the attempt and revisit what was difficult.</a:t>
            </a:r>
          </a:p>
        </p:txBody>
      </p:sp>
      <p:sp>
        <p:nvSpPr>
          <p:cNvPr id="12" name="text-11">
            <a:extLst xmlns:a="http://schemas.openxmlformats.org/drawingml/2006/main">
              <a:ext uri="{FF2B5EF4-FFF2-40B4-BE49-F238E27FC236}">
                <a16:creationId xmlns:a16="http://schemas.microsoft.com/office/drawing/2014/main" id="{7C11ABA5-4B69-409E-BC8E-EFECA9A6838D}"/>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Research motivates these techniques. It does not establish NeuroQuest's educational effectiveness.</a:t>
            </a:r>
          </a:p>
        </p:txBody>
      </p:sp>
    </p:spTree>
    <p:extLst>
      <p:ext uri="{BB962C8B-B14F-4D97-AF65-F5344CB8AC3E}">
        <p14:creationId xmlns:p14="http://schemas.microsoft.com/office/powerpoint/2010/main" val="1818866675"/>
      </p:ext>
    </p:extLst>
  </p:cSld>
</p:sld>
</file>

<file path=ppt/slides/slide5.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BD64686-9970-4F67-AD98-3498F1B570A3}"/>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What the website includes</a:t>
            </a:r>
          </a:p>
        </p:txBody>
      </p:sp>
      <p:sp>
        <p:nvSpPr>
          <p:cNvPr id="2" name="text-1">
            <a:extLst xmlns:a="http://schemas.openxmlformats.org/drawingml/2006/main">
              <a:ext uri="{FF2B5EF4-FFF2-40B4-BE49-F238E27FC236}">
                <a16:creationId xmlns:a16="http://schemas.microsoft.com/office/drawing/2014/main" id="{656927F5-DD8A-46F4-8DD3-795EC5D34E76}"/>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3AC72534-A7D1-4675-A124-7C520F94816D}"/>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037B894D-688D-4DB9-AAED-25FDB842DE7C}"/>
              </a:ext>
            </a:extLst>
          </p:cNvPr>
          <p:cNvSpPr>
            <a:spLocks xmlns:a="http://schemas.openxmlformats.org/drawingml/2006/main" noGrp="1"/>
          </p:cNvSpPr>
          <p:nvPr/>
        </p:nvSpPr>
        <p:spPr>
          <a:xfrm xmlns:a="http://schemas.openxmlformats.org/drawingml/2006/main">
            <a:off x="685800" y="17621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Subject palaces</a:t>
            </a:r>
          </a:p>
        </p:txBody>
      </p:sp>
      <p:sp>
        <p:nvSpPr>
          <p:cNvPr id="5" name="text-4">
            <a:extLst xmlns:a="http://schemas.openxmlformats.org/drawingml/2006/main">
              <a:ext uri="{FF2B5EF4-FFF2-40B4-BE49-F238E27FC236}">
                <a16:creationId xmlns:a16="http://schemas.microsoft.com/office/drawing/2014/main" id="{0CD01326-D770-4E38-A1A5-E0F7095B1B57}"/>
              </a:ext>
            </a:extLst>
          </p:cNvPr>
          <p:cNvSpPr>
            <a:spLocks xmlns:a="http://schemas.openxmlformats.org/drawingml/2006/main" noGrp="1"/>
          </p:cNvSpPr>
          <p:nvPr/>
        </p:nvSpPr>
        <p:spPr>
          <a:xfrm xmlns:a="http://schemas.openxmlformats.org/drawingml/2006/main">
            <a:off x="3714750" y="17621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Computer Science, Human Anatomy, World History, and custom subjects.</a:t>
            </a:r>
          </a:p>
        </p:txBody>
      </p:sp>
      <p:sp>
        <p:nvSpPr>
          <p:cNvPr id="6" name="text-5">
            <a:extLst xmlns:a="http://schemas.openxmlformats.org/drawingml/2006/main">
              <a:ext uri="{FF2B5EF4-FFF2-40B4-BE49-F238E27FC236}">
                <a16:creationId xmlns:a16="http://schemas.microsoft.com/office/drawing/2014/main" id="{ED170550-6E8D-4421-9B9C-85AA14DF0AE0}"/>
              </a:ext>
            </a:extLst>
          </p:cNvPr>
          <p:cNvSpPr>
            <a:spLocks xmlns:a="http://schemas.openxmlformats.org/drawingml/2006/main" noGrp="1"/>
          </p:cNvSpPr>
          <p:nvPr/>
        </p:nvSpPr>
        <p:spPr>
          <a:xfrm xmlns:a="http://schemas.openxmlformats.org/drawingml/2006/main">
            <a:off x="685800" y="27336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Memory anchors</a:t>
            </a:r>
          </a:p>
        </p:txBody>
      </p:sp>
      <p:sp>
        <p:nvSpPr>
          <p:cNvPr id="7" name="text-6">
            <a:extLst xmlns:a="http://schemas.openxmlformats.org/drawingml/2006/main">
              <a:ext uri="{FF2B5EF4-FFF2-40B4-BE49-F238E27FC236}">
                <a16:creationId xmlns:a16="http://schemas.microsoft.com/office/drawing/2014/main" id="{B2308DB7-4902-4DE3-8A15-44BC59F6795C}"/>
              </a:ext>
            </a:extLst>
          </p:cNvPr>
          <p:cNvSpPr>
            <a:spLocks xmlns:a="http://schemas.openxmlformats.org/drawingml/2006/main" noGrp="1"/>
          </p:cNvSpPr>
          <p:nvPr/>
        </p:nvSpPr>
        <p:spPr>
          <a:xfrm xmlns:a="http://schemas.openxmlformats.org/drawingml/2006/main">
            <a:off x="3714750" y="27336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Notes linked to geometric artifacts, colors, and 3D positions.</a:t>
            </a:r>
          </a:p>
        </p:txBody>
      </p:sp>
      <p:sp>
        <p:nvSpPr>
          <p:cNvPr id="8" name="text-7">
            <a:extLst xmlns:a="http://schemas.openxmlformats.org/drawingml/2006/main">
              <a:ext uri="{FF2B5EF4-FFF2-40B4-BE49-F238E27FC236}">
                <a16:creationId xmlns:a16="http://schemas.microsoft.com/office/drawing/2014/main" id="{9DBAB66D-2E06-49AF-A3FE-E6A34CC3948D}"/>
              </a:ext>
            </a:extLst>
          </p:cNvPr>
          <p:cNvSpPr>
            <a:spLocks xmlns:a="http://schemas.openxmlformats.org/drawingml/2006/main" noGrp="1"/>
          </p:cNvSpPr>
          <p:nvPr/>
        </p:nvSpPr>
        <p:spPr>
          <a:xfrm xmlns:a="http://schemas.openxmlformats.org/drawingml/2006/main">
            <a:off x="685800" y="37052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Study tools</a:t>
            </a:r>
          </a:p>
        </p:txBody>
      </p:sp>
      <p:sp>
        <p:nvSpPr>
          <p:cNvPr id="9" name="text-8">
            <a:extLst xmlns:a="http://schemas.openxmlformats.org/drawingml/2006/main">
              <a:ext uri="{FF2B5EF4-FFF2-40B4-BE49-F238E27FC236}">
                <a16:creationId xmlns:a16="http://schemas.microsoft.com/office/drawing/2014/main" id="{434F38E3-96A4-4A79-87ED-C995923F7E9E}"/>
              </a:ext>
            </a:extLst>
          </p:cNvPr>
          <p:cNvSpPr>
            <a:spLocks xmlns:a="http://schemas.openxmlformats.org/drawingml/2006/main" noGrp="1"/>
          </p:cNvSpPr>
          <p:nvPr/>
        </p:nvSpPr>
        <p:spPr>
          <a:xfrm xmlns:a="http://schemas.openxmlformats.org/drawingml/2006/main">
            <a:off x="3714750" y="37052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Explore, Recall Challenge, search, editing, and learning insights.</a:t>
            </a:r>
          </a:p>
        </p:txBody>
      </p:sp>
      <p:sp>
        <p:nvSpPr>
          <p:cNvPr id="10" name="text-9">
            <a:extLst xmlns:a="http://schemas.openxmlformats.org/drawingml/2006/main">
              <a:ext uri="{FF2B5EF4-FFF2-40B4-BE49-F238E27FC236}">
                <a16:creationId xmlns:a16="http://schemas.microsoft.com/office/drawing/2014/main" id="{DE0D15BB-BC74-4149-B45C-443F52281CDF}"/>
              </a:ext>
            </a:extLst>
          </p:cNvPr>
          <p:cNvSpPr>
            <a:spLocks xmlns:a="http://schemas.openxmlformats.org/drawingml/2006/main" noGrp="1"/>
          </p:cNvSpPr>
          <p:nvPr/>
        </p:nvSpPr>
        <p:spPr>
          <a:xfrm xmlns:a="http://schemas.openxmlformats.org/drawingml/2006/main">
            <a:off x="685800" y="46767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Accessible controls</a:t>
            </a:r>
          </a:p>
        </p:txBody>
      </p:sp>
      <p:sp>
        <p:nvSpPr>
          <p:cNvPr id="11" name="text-10">
            <a:extLst xmlns:a="http://schemas.openxmlformats.org/drawingml/2006/main">
              <a:ext uri="{FF2B5EF4-FFF2-40B4-BE49-F238E27FC236}">
                <a16:creationId xmlns:a16="http://schemas.microsoft.com/office/drawing/2014/main" id="{81B7A8F8-F89A-4179-84A5-AEBC1C2EEE50}"/>
              </a:ext>
            </a:extLst>
          </p:cNvPr>
          <p:cNvSpPr>
            <a:spLocks xmlns:a="http://schemas.openxmlformats.org/drawingml/2006/main" noGrp="1"/>
          </p:cNvSpPr>
          <p:nvPr/>
        </p:nvSpPr>
        <p:spPr>
          <a:xfrm xmlns:a="http://schemas.openxmlformats.org/drawingml/2006/main">
            <a:off x="3714750" y="46767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Anchor lists and a map support the 3D view. An HTML fallback keeps study available.</a:t>
            </a:r>
          </a:p>
        </p:txBody>
      </p:sp>
    </p:spTree>
    <p:extLst>
      <p:ext uri="{BB962C8B-B14F-4D97-AF65-F5344CB8AC3E}">
        <p14:creationId xmlns:p14="http://schemas.microsoft.com/office/powerpoint/2010/main" val="34138158"/>
      </p:ext>
    </p:extLst>
  </p:cSld>
</p:sld>
</file>

<file path=ppt/slides/slide6.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1FB5542-564F-409E-B0C3-64C7DCEF7307}"/>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How a student uses NeuroQuest</a:t>
            </a:r>
          </a:p>
        </p:txBody>
      </p:sp>
      <p:sp>
        <p:nvSpPr>
          <p:cNvPr id="2" name="text-1">
            <a:extLst xmlns:a="http://schemas.openxmlformats.org/drawingml/2006/main">
              <a:ext uri="{FF2B5EF4-FFF2-40B4-BE49-F238E27FC236}">
                <a16:creationId xmlns:a16="http://schemas.microsoft.com/office/drawing/2014/main" id="{C6618D5B-513A-4FC6-B30E-E86F8805048D}"/>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2D974104-3A39-4993-B128-F5105CEAAB01}"/>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06</a:t>
            </a:r>
          </a:p>
        </p:txBody>
      </p:sp>
      <p:sp>
        <p:nvSpPr>
          <p:cNvPr id="4" name="text-3">
            <a:extLst xmlns:a="http://schemas.openxmlformats.org/drawingml/2006/main">
              <a:ext uri="{FF2B5EF4-FFF2-40B4-BE49-F238E27FC236}">
                <a16:creationId xmlns:a16="http://schemas.microsoft.com/office/drawing/2014/main" id="{1E5A1BC1-7C84-4B3E-A352-A4A3ED95848B}"/>
              </a:ext>
            </a:extLst>
          </p:cNvPr>
          <p:cNvSpPr>
            <a:spLocks xmlns:a="http://schemas.openxmlformats.org/drawingml/2006/main" noGrp="1"/>
          </p:cNvSpPr>
          <p:nvPr/>
        </p:nvSpPr>
        <p:spPr>
          <a:xfrm xmlns:a="http://schemas.openxmlformats.org/drawingml/2006/main">
            <a:off x="685800" y="16954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432E11D1-258B-4C5B-9B4E-31D8DB810915}"/>
              </a:ext>
            </a:extLst>
          </p:cNvPr>
          <p:cNvSpPr>
            <a:spLocks xmlns:a="http://schemas.openxmlformats.org/drawingml/2006/main" noGrp="1"/>
          </p:cNvSpPr>
          <p:nvPr/>
        </p:nvSpPr>
        <p:spPr>
          <a:xfrm xmlns:a="http://schemas.openxmlformats.org/drawingml/2006/main">
            <a:off x="1495425" y="16954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Choose a subject</a:t>
            </a:r>
          </a:p>
        </p:txBody>
      </p:sp>
      <p:sp>
        <p:nvSpPr>
          <p:cNvPr id="6" name="text-5">
            <a:extLst xmlns:a="http://schemas.openxmlformats.org/drawingml/2006/main">
              <a:ext uri="{FF2B5EF4-FFF2-40B4-BE49-F238E27FC236}">
                <a16:creationId xmlns:a16="http://schemas.microsoft.com/office/drawing/2014/main" id="{84DCA8DB-A782-4511-A90D-C0A0C813D977}"/>
              </a:ext>
            </a:extLst>
          </p:cNvPr>
          <p:cNvSpPr>
            <a:spLocks xmlns:a="http://schemas.openxmlformats.org/drawingml/2006/main" noGrp="1"/>
          </p:cNvSpPr>
          <p:nvPr/>
        </p:nvSpPr>
        <p:spPr>
          <a:xfrm xmlns:a="http://schemas.openxmlformats.org/drawingml/2006/main">
            <a:off x="5486400" y="16954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Open an existing palace or create a new one.</a:t>
            </a:r>
          </a:p>
        </p:txBody>
      </p:sp>
      <p:sp>
        <p:nvSpPr>
          <p:cNvPr id="7" name="text-6">
            <a:extLst xmlns:a="http://schemas.openxmlformats.org/drawingml/2006/main">
              <a:ext uri="{FF2B5EF4-FFF2-40B4-BE49-F238E27FC236}">
                <a16:creationId xmlns:a16="http://schemas.microsoft.com/office/drawing/2014/main" id="{1F29C623-420D-4347-8F9E-1243066F2FC1}"/>
              </a:ext>
            </a:extLst>
          </p:cNvPr>
          <p:cNvSpPr>
            <a:spLocks xmlns:a="http://schemas.openxmlformats.org/drawingml/2006/main" noGrp="1"/>
          </p:cNvSpPr>
          <p:nvPr/>
        </p:nvSpPr>
        <p:spPr>
          <a:xfrm xmlns:a="http://schemas.openxmlformats.org/drawingml/2006/main">
            <a:off x="685800" y="24765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E3DD640A-8927-43C6-B7FE-4E346824A736}"/>
              </a:ext>
            </a:extLst>
          </p:cNvPr>
          <p:cNvSpPr>
            <a:spLocks xmlns:a="http://schemas.openxmlformats.org/drawingml/2006/main" noGrp="1"/>
          </p:cNvSpPr>
          <p:nvPr/>
        </p:nvSpPr>
        <p:spPr>
          <a:xfrm xmlns:a="http://schemas.openxmlformats.org/drawingml/2006/main">
            <a:off x="1495425" y="24765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Add a concept</a:t>
            </a:r>
          </a:p>
        </p:txBody>
      </p:sp>
      <p:sp>
        <p:nvSpPr>
          <p:cNvPr id="9" name="text-8">
            <a:extLst xmlns:a="http://schemas.openxmlformats.org/drawingml/2006/main">
              <a:ext uri="{FF2B5EF4-FFF2-40B4-BE49-F238E27FC236}">
                <a16:creationId xmlns:a16="http://schemas.microsoft.com/office/drawing/2014/main" id="{D7F3AD34-9CB0-467D-8A71-29D35C100CA9}"/>
              </a:ext>
            </a:extLst>
          </p:cNvPr>
          <p:cNvSpPr>
            <a:spLocks xmlns:a="http://schemas.openxmlformats.org/drawingml/2006/main" noGrp="1"/>
          </p:cNvSpPr>
          <p:nvPr/>
        </p:nvSpPr>
        <p:spPr>
          <a:xfrm xmlns:a="http://schemas.openxmlformats.org/drawingml/2006/main">
            <a:off x="5486400" y="24765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Write a focused note and select its artifact.</a:t>
            </a:r>
          </a:p>
        </p:txBody>
      </p:sp>
      <p:sp>
        <p:nvSpPr>
          <p:cNvPr id="10" name="text-9">
            <a:extLst xmlns:a="http://schemas.openxmlformats.org/drawingml/2006/main">
              <a:ext uri="{FF2B5EF4-FFF2-40B4-BE49-F238E27FC236}">
                <a16:creationId xmlns:a16="http://schemas.microsoft.com/office/drawing/2014/main" id="{F0813F5B-B4C0-49FB-BE59-9939FC51E356}"/>
              </a:ext>
            </a:extLst>
          </p:cNvPr>
          <p:cNvSpPr>
            <a:spLocks xmlns:a="http://schemas.openxmlformats.org/drawingml/2006/main" noGrp="1"/>
          </p:cNvSpPr>
          <p:nvPr/>
        </p:nvSpPr>
        <p:spPr>
          <a:xfrm xmlns:a="http://schemas.openxmlformats.org/drawingml/2006/main">
            <a:off x="685800" y="32575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90CC8EE9-51C1-46D5-9D21-F4F959AAA027}"/>
              </a:ext>
            </a:extLst>
          </p:cNvPr>
          <p:cNvSpPr>
            <a:spLocks xmlns:a="http://schemas.openxmlformats.org/drawingml/2006/main" noGrp="1"/>
          </p:cNvSpPr>
          <p:nvPr/>
        </p:nvSpPr>
        <p:spPr>
          <a:xfrm xmlns:a="http://schemas.openxmlformats.org/drawingml/2006/main">
            <a:off x="1495425" y="32575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Explore the room</a:t>
            </a:r>
          </a:p>
        </p:txBody>
      </p:sp>
      <p:sp>
        <p:nvSpPr>
          <p:cNvPr id="12" name="text-11">
            <a:extLst xmlns:a="http://schemas.openxmlformats.org/drawingml/2006/main">
              <a:ext uri="{FF2B5EF4-FFF2-40B4-BE49-F238E27FC236}">
                <a16:creationId xmlns:a16="http://schemas.microsoft.com/office/drawing/2014/main" id="{9CD8F77D-D27E-47D3-BA3F-5C88609C70B6}"/>
              </a:ext>
            </a:extLst>
          </p:cNvPr>
          <p:cNvSpPr>
            <a:spLocks xmlns:a="http://schemas.openxmlformats.org/drawingml/2006/main" noGrp="1"/>
          </p:cNvSpPr>
          <p:nvPr/>
        </p:nvSpPr>
        <p:spPr>
          <a:xfrm xmlns:a="http://schemas.openxmlformats.org/drawingml/2006/main">
            <a:off x="5486400" y="32575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Learn the note and notice its location.</a:t>
            </a:r>
          </a:p>
        </p:txBody>
      </p:sp>
      <p:sp>
        <p:nvSpPr>
          <p:cNvPr id="13" name="text-12">
            <a:extLst xmlns:a="http://schemas.openxmlformats.org/drawingml/2006/main">
              <a:ext uri="{FF2B5EF4-FFF2-40B4-BE49-F238E27FC236}">
                <a16:creationId xmlns:a16="http://schemas.microsoft.com/office/drawing/2014/main" id="{96742896-786C-4320-8BAD-089DF8F98843}"/>
              </a:ext>
            </a:extLst>
          </p:cNvPr>
          <p:cNvSpPr>
            <a:spLocks xmlns:a="http://schemas.openxmlformats.org/drawingml/2006/main" noGrp="1"/>
          </p:cNvSpPr>
          <p:nvPr/>
        </p:nvSpPr>
        <p:spPr>
          <a:xfrm xmlns:a="http://schemas.openxmlformats.org/drawingml/2006/main">
            <a:off x="685800" y="40386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A0A787E8-3CB7-4CB8-A7C4-19BAE11F45FD}"/>
              </a:ext>
            </a:extLst>
          </p:cNvPr>
          <p:cNvSpPr>
            <a:spLocks xmlns:a="http://schemas.openxmlformats.org/drawingml/2006/main" noGrp="1"/>
          </p:cNvSpPr>
          <p:nvPr/>
        </p:nvSpPr>
        <p:spPr>
          <a:xfrm xmlns:a="http://schemas.openxmlformats.org/drawingml/2006/main">
            <a:off x="1495425" y="40386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Try Recall Challenge</a:t>
            </a:r>
          </a:p>
        </p:txBody>
      </p:sp>
      <p:sp>
        <p:nvSpPr>
          <p:cNvPr id="15" name="text-14">
            <a:extLst xmlns:a="http://schemas.openxmlformats.org/drawingml/2006/main">
              <a:ext uri="{FF2B5EF4-FFF2-40B4-BE49-F238E27FC236}">
                <a16:creationId xmlns:a16="http://schemas.microsoft.com/office/drawing/2014/main" id="{B02982D5-DBFE-4667-B14B-C981689CB2FD}"/>
              </a:ext>
            </a:extLst>
          </p:cNvPr>
          <p:cNvSpPr>
            <a:spLocks xmlns:a="http://schemas.openxmlformats.org/drawingml/2006/main" noGrp="1"/>
          </p:cNvSpPr>
          <p:nvPr/>
        </p:nvSpPr>
        <p:spPr>
          <a:xfrm xmlns:a="http://schemas.openxmlformats.org/drawingml/2006/main">
            <a:off x="5486400" y="40386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Attempt the answer before revealing it.</a:t>
            </a:r>
          </a:p>
        </p:txBody>
      </p:sp>
      <p:sp>
        <p:nvSpPr>
          <p:cNvPr id="16" name="text-15">
            <a:extLst xmlns:a="http://schemas.openxmlformats.org/drawingml/2006/main">
              <a:ext uri="{FF2B5EF4-FFF2-40B4-BE49-F238E27FC236}">
                <a16:creationId xmlns:a16="http://schemas.microsoft.com/office/drawing/2014/main" id="{0375805C-EB9F-4BE9-A836-A3EB3486B4A5}"/>
              </a:ext>
            </a:extLst>
          </p:cNvPr>
          <p:cNvSpPr>
            <a:spLocks xmlns:a="http://schemas.openxmlformats.org/drawingml/2006/main" noGrp="1"/>
          </p:cNvSpPr>
          <p:nvPr/>
        </p:nvSpPr>
        <p:spPr>
          <a:xfrm xmlns:a="http://schemas.openxmlformats.org/drawingml/2006/main">
            <a:off x="685800" y="48196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05</a:t>
            </a:r>
          </a:p>
        </p:txBody>
      </p:sp>
      <p:sp>
        <p:nvSpPr>
          <p:cNvPr id="17" name="text-16">
            <a:extLst xmlns:a="http://schemas.openxmlformats.org/drawingml/2006/main">
              <a:ext uri="{FF2B5EF4-FFF2-40B4-BE49-F238E27FC236}">
                <a16:creationId xmlns:a16="http://schemas.microsoft.com/office/drawing/2014/main" id="{3D64A4B5-E097-4A9B-A334-739F60999462}"/>
              </a:ext>
            </a:extLst>
          </p:cNvPr>
          <p:cNvSpPr>
            <a:spLocks xmlns:a="http://schemas.openxmlformats.org/drawingml/2006/main" noGrp="1"/>
          </p:cNvSpPr>
          <p:nvPr/>
        </p:nvSpPr>
        <p:spPr>
          <a:xfrm xmlns:a="http://schemas.openxmlformats.org/drawingml/2006/main">
            <a:off x="1495425" y="48196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Rate and revisit</a:t>
            </a:r>
          </a:p>
        </p:txBody>
      </p:sp>
      <p:sp>
        <p:nvSpPr>
          <p:cNvPr id="18" name="text-17">
            <a:extLst xmlns:a="http://schemas.openxmlformats.org/drawingml/2006/main">
              <a:ext uri="{FF2B5EF4-FFF2-40B4-BE49-F238E27FC236}">
                <a16:creationId xmlns:a16="http://schemas.microsoft.com/office/drawing/2014/main" id="{D8C41905-5B4A-434E-A118-2938434F1727}"/>
              </a:ext>
            </a:extLst>
          </p:cNvPr>
          <p:cNvSpPr>
            <a:spLocks xmlns:a="http://schemas.openxmlformats.org/drawingml/2006/main" noGrp="1"/>
          </p:cNvSpPr>
          <p:nvPr/>
        </p:nvSpPr>
        <p:spPr>
          <a:xfrm xmlns:a="http://schemas.openxmlformats.org/drawingml/2006/main">
            <a:off x="5486400" y="48196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Choose Easy, Hard, or Failed and continue.</a:t>
            </a:r>
          </a:p>
        </p:txBody>
      </p:sp>
    </p:spTree>
    <p:extLst>
      <p:ext uri="{BB962C8B-B14F-4D97-AF65-F5344CB8AC3E}">
        <p14:creationId xmlns:p14="http://schemas.microsoft.com/office/powerpoint/2010/main" val="1275978564"/>
      </p:ext>
    </p:extLst>
  </p:cSld>
</p:sld>
</file>

<file path=ppt/slides/slide7.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28ECA985-C92A-452A-B17C-8CEF8B5989C3}"/>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Creating a new subject palace</a:t>
            </a:r>
          </a:p>
        </p:txBody>
      </p:sp>
      <p:sp>
        <p:nvSpPr>
          <p:cNvPr id="2" name="text-1">
            <a:extLst xmlns:a="http://schemas.openxmlformats.org/drawingml/2006/main">
              <a:ext uri="{FF2B5EF4-FFF2-40B4-BE49-F238E27FC236}">
                <a16:creationId xmlns:a16="http://schemas.microsoft.com/office/drawing/2014/main" id="{E84CB833-0748-4E91-94A1-6EFAB8C4CAE9}"/>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4AE9759A-3246-42CE-A2A9-92F63BC86F34}"/>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F44A8B2F-5BFA-4C44-A0C5-514B0D17132B}"/>
              </a:ext>
            </a:extLst>
          </p:cNvPr>
          <p:cNvSpPr>
            <a:spLocks xmlns:a="http://schemas.openxmlformats.org/drawingml/2006/main" noGrp="1"/>
          </p:cNvSpPr>
          <p:nvPr/>
        </p:nvSpPr>
        <p:spPr>
          <a:xfrm xmlns:a="http://schemas.openxmlformats.org/drawingml/2006/main">
            <a:off x="685800" y="17621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Open the form</a:t>
            </a:r>
          </a:p>
        </p:txBody>
      </p:sp>
      <p:sp>
        <p:nvSpPr>
          <p:cNvPr id="5" name="text-4">
            <a:extLst xmlns:a="http://schemas.openxmlformats.org/drawingml/2006/main">
              <a:ext uri="{FF2B5EF4-FFF2-40B4-BE49-F238E27FC236}">
                <a16:creationId xmlns:a16="http://schemas.microsoft.com/office/drawing/2014/main" id="{2547C978-43FE-42C4-925F-E1338709E5BC}"/>
              </a:ext>
            </a:extLst>
          </p:cNvPr>
          <p:cNvSpPr>
            <a:spLocks xmlns:a="http://schemas.openxmlformats.org/drawingml/2006/main" noGrp="1"/>
          </p:cNvSpPr>
          <p:nvPr/>
        </p:nvSpPr>
        <p:spPr>
          <a:xfrm xmlns:a="http://schemas.openxmlformats.org/drawingml/2006/main">
            <a:off x="3714750" y="17621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Select Create palace under Your palaces. On mobile, open the navigation menu.</a:t>
            </a:r>
          </a:p>
        </p:txBody>
      </p:sp>
      <p:sp>
        <p:nvSpPr>
          <p:cNvPr id="6" name="text-5">
            <a:extLst xmlns:a="http://schemas.openxmlformats.org/drawingml/2006/main">
              <a:ext uri="{FF2B5EF4-FFF2-40B4-BE49-F238E27FC236}">
                <a16:creationId xmlns:a16="http://schemas.microsoft.com/office/drawing/2014/main" id="{5BB881B9-F931-45E4-A81F-DAF5FDB525EB}"/>
              </a:ext>
            </a:extLst>
          </p:cNvPr>
          <p:cNvSpPr>
            <a:spLocks xmlns:a="http://schemas.openxmlformats.org/drawingml/2006/main" noGrp="1"/>
          </p:cNvSpPr>
          <p:nvPr/>
        </p:nvSpPr>
        <p:spPr>
          <a:xfrm xmlns:a="http://schemas.openxmlformats.org/drawingml/2006/main">
            <a:off x="685800" y="27336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Make it recognizable</a:t>
            </a:r>
          </a:p>
        </p:txBody>
      </p:sp>
      <p:sp>
        <p:nvSpPr>
          <p:cNvPr id="7" name="text-6">
            <a:extLst xmlns:a="http://schemas.openxmlformats.org/drawingml/2006/main">
              <a:ext uri="{FF2B5EF4-FFF2-40B4-BE49-F238E27FC236}">
                <a16:creationId xmlns:a16="http://schemas.microsoft.com/office/drawing/2014/main" id="{E8ADC211-13EE-4734-89BF-3A78060BF46B}"/>
              </a:ext>
            </a:extLst>
          </p:cNvPr>
          <p:cNvSpPr>
            <a:spLocks xmlns:a="http://schemas.openxmlformats.org/drawingml/2006/main" noGrp="1"/>
          </p:cNvSpPr>
          <p:nvPr/>
        </p:nvSpPr>
        <p:spPr>
          <a:xfrm xmlns:a="http://schemas.openxmlformats.org/drawingml/2006/main">
            <a:off x="3714750" y="27336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Enter a unique name, an optional description, an icon, and a color.</a:t>
            </a:r>
          </a:p>
        </p:txBody>
      </p:sp>
      <p:sp>
        <p:nvSpPr>
          <p:cNvPr id="8" name="text-7">
            <a:extLst xmlns:a="http://schemas.openxmlformats.org/drawingml/2006/main">
              <a:ext uri="{FF2B5EF4-FFF2-40B4-BE49-F238E27FC236}">
                <a16:creationId xmlns:a16="http://schemas.microsoft.com/office/drawing/2014/main" id="{E6DAD396-9FEA-4198-AEDE-4AB3DC05CC5E}"/>
              </a:ext>
            </a:extLst>
          </p:cNvPr>
          <p:cNvSpPr>
            <a:spLocks xmlns:a="http://schemas.openxmlformats.org/drawingml/2006/main" noGrp="1"/>
          </p:cNvSpPr>
          <p:nvPr/>
        </p:nvSpPr>
        <p:spPr>
          <a:xfrm xmlns:a="http://schemas.openxmlformats.org/drawingml/2006/main">
            <a:off x="685800" y="37052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Add the first memory</a:t>
            </a:r>
          </a:p>
        </p:txBody>
      </p:sp>
      <p:sp>
        <p:nvSpPr>
          <p:cNvPr id="9" name="text-8">
            <a:extLst xmlns:a="http://schemas.openxmlformats.org/drawingml/2006/main">
              <a:ext uri="{FF2B5EF4-FFF2-40B4-BE49-F238E27FC236}">
                <a16:creationId xmlns:a16="http://schemas.microsoft.com/office/drawing/2014/main" id="{48F0EBC2-C709-4601-9A8C-E16CE79CB61F}"/>
              </a:ext>
            </a:extLst>
          </p:cNvPr>
          <p:cNvSpPr>
            <a:spLocks xmlns:a="http://schemas.openxmlformats.org/drawingml/2006/main" noGrp="1"/>
          </p:cNvSpPr>
          <p:nvPr/>
        </p:nvSpPr>
        <p:spPr>
          <a:xfrm xmlns:a="http://schemas.openxmlformats.org/drawingml/2006/main">
            <a:off x="3714750" y="37052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The empty palace opens immediately, ready for a new anchor.</a:t>
            </a:r>
          </a:p>
        </p:txBody>
      </p:sp>
      <p:sp>
        <p:nvSpPr>
          <p:cNvPr id="10" name="text-9">
            <a:extLst xmlns:a="http://schemas.openxmlformats.org/drawingml/2006/main">
              <a:ext uri="{FF2B5EF4-FFF2-40B4-BE49-F238E27FC236}">
                <a16:creationId xmlns:a16="http://schemas.microsoft.com/office/drawing/2014/main" id="{5CD1740F-2C88-4867-82B9-9644F277D1FC}"/>
              </a:ext>
            </a:extLst>
          </p:cNvPr>
          <p:cNvSpPr>
            <a:spLocks xmlns:a="http://schemas.openxmlformats.org/drawingml/2006/main" noGrp="1"/>
          </p:cNvSpPr>
          <p:nvPr/>
        </p:nvSpPr>
        <p:spPr>
          <a:xfrm xmlns:a="http://schemas.openxmlformats.org/drawingml/2006/main">
            <a:off x="685800" y="46767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Keep it for later</a:t>
            </a:r>
          </a:p>
        </p:txBody>
      </p:sp>
      <p:sp>
        <p:nvSpPr>
          <p:cNvPr id="11" name="text-10">
            <a:extLst xmlns:a="http://schemas.openxmlformats.org/drawingml/2006/main">
              <a:ext uri="{FF2B5EF4-FFF2-40B4-BE49-F238E27FC236}">
                <a16:creationId xmlns:a16="http://schemas.microsoft.com/office/drawing/2014/main" id="{44EBCD98-4A28-40EF-B6A3-2BC96A26C546}"/>
              </a:ext>
            </a:extLst>
          </p:cNvPr>
          <p:cNvSpPr>
            <a:spLocks xmlns:a="http://schemas.openxmlformats.org/drawingml/2006/main" noGrp="1"/>
          </p:cNvSpPr>
          <p:nvPr/>
        </p:nvSpPr>
        <p:spPr>
          <a:xfrm xmlns:a="http://schemas.openxmlformats.org/drawingml/2006/main">
            <a:off x="3714750" y="46767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Rooms and notes remain in the same browser after refresh.</a:t>
            </a:r>
          </a:p>
        </p:txBody>
      </p:sp>
      <p:sp>
        <p:nvSpPr>
          <p:cNvPr id="12" name="text-11">
            <a:extLst xmlns:a="http://schemas.openxmlformats.org/drawingml/2006/main">
              <a:ext uri="{FF2B5EF4-FFF2-40B4-BE49-F238E27FC236}">
                <a16:creationId xmlns:a16="http://schemas.microsoft.com/office/drawing/2014/main" id="{3CA368B5-27CE-4844-BF2E-5117C2FA9A4C}"/>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Current limits: 50 palaces, names up to 48 characters, and 300 anchors across the workspace.</a:t>
            </a:r>
          </a:p>
        </p:txBody>
      </p:sp>
    </p:spTree>
    <p:extLst>
      <p:ext uri="{BB962C8B-B14F-4D97-AF65-F5344CB8AC3E}">
        <p14:creationId xmlns:p14="http://schemas.microsoft.com/office/powerpoint/2010/main" val="806870267"/>
      </p:ext>
    </p:extLst>
  </p:cSld>
</p:sld>
</file>

<file path=ppt/slides/slide8.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DE10070-A964-4488-A0BE-0B2B62C37C76}"/>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Explore and Recall Challenge</a:t>
            </a:r>
          </a:p>
        </p:txBody>
      </p:sp>
      <p:sp>
        <p:nvSpPr>
          <p:cNvPr id="2" name="text-1">
            <a:extLst xmlns:a="http://schemas.openxmlformats.org/drawingml/2006/main">
              <a:ext uri="{FF2B5EF4-FFF2-40B4-BE49-F238E27FC236}">
                <a16:creationId xmlns:a16="http://schemas.microsoft.com/office/drawing/2014/main" id="{C83BD1E9-93B8-4303-8D89-D873BA39CB1C}"/>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CC610C93-B3AE-47DD-9815-A798F73C2FE8}"/>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08</a:t>
            </a:r>
          </a:p>
        </p:txBody>
      </p:sp>
      <p:graphicFrame>
        <p:nvGraphicFramePr>
          <p:cNvPr id="9" name=""/>
          <p:cNvGraphicFramePr/>
          <p:nvPr/>
        </p:nvGraphicFramePr>
        <p:xfrm>
          <a:off xmlns:a="http://schemas.openxmlformats.org/drawingml/2006/main" x="685800" y="1666875"/>
          <a:ext xmlns:a="http://schemas.openxmlformats.org/drawingml/2006/main" cx="10858500" cy="3667125"/>
        </p:xfrm>
        <a:graphic xmlns:a="http://schemas.openxmlformats.org/drawingml/2006/main">
          <a:graphicData uri="http://schemas.openxmlformats.org/drawingml/2006/table">
            <a:tbl>
              <a:tblPr/>
              <a:tblGrid>
                <a:gridCol w="2667000"/>
                <a:gridCol w="4095750"/>
                <a:gridCol w="4095750"/>
              </a:tblGrid>
              <a:tr h="611188">
                <a:tc>
                  <a:txBody>
                    <a:bodyPr/>
                    <a:lstStyle/>
                    <a:p>
                      <a:r>
                        <a:rPr sz="1875" b="1">
                          <a:solidFill>
                            <a:srgbClr val="FFFFFF"/>
                          </a:solidFill>
                          <a:latin typeface="Arial"/>
                          <a:ea typeface="Arial"/>
                          <a:cs typeface="Arial"/>
                        </a:rPr>
                        <a:t>Behavior</a:t>
                      </a:r>
                    </a:p>
                  </a:txBody>
                  <a:tcPr marL="142875" marR="142875" marT="95250" marB="95250" anchor="ctr">
                    <a:solidFill>
                      <a:srgbClr val="7651C8"/>
                    </a:solidFill>
                  </a:tcPr>
                </a:tc>
                <a:tc>
                  <a:txBody>
                    <a:bodyPr/>
                    <a:lstStyle/>
                    <a:p>
                      <a:r>
                        <a:rPr sz="1875" b="1">
                          <a:solidFill>
                            <a:srgbClr val="FFFFFF"/>
                          </a:solidFill>
                          <a:latin typeface="Arial"/>
                          <a:ea typeface="Arial"/>
                          <a:cs typeface="Arial"/>
                        </a:rPr>
                        <a:t>Explore</a:t>
                      </a:r>
                    </a:p>
                  </a:txBody>
                  <a:tcPr marL="142875" marR="142875" marT="95250" marB="95250" anchor="ctr">
                    <a:solidFill>
                      <a:srgbClr val="7651C8"/>
                    </a:solidFill>
                  </a:tcPr>
                </a:tc>
                <a:tc>
                  <a:txBody>
                    <a:bodyPr/>
                    <a:lstStyle/>
                    <a:p>
                      <a:r>
                        <a:rPr sz="1875" b="1">
                          <a:solidFill>
                            <a:srgbClr val="FFFFFF"/>
                          </a:solidFill>
                          <a:latin typeface="Arial"/>
                          <a:ea typeface="Arial"/>
                          <a:cs typeface="Arial"/>
                        </a:rPr>
                        <a:t>Recall Challenge</a:t>
                      </a:r>
                    </a:p>
                  </a:txBody>
                  <a:tcPr marL="142875" marR="142875" marT="95250" marB="95250" anchor="ctr">
                    <a:solidFill>
                      <a:srgbClr val="7651C8"/>
                    </a:solidFill>
                  </a:tcPr>
                </a:tc>
              </a:tr>
              <a:tr h="611188">
                <a:tc>
                  <a:txBody>
                    <a:bodyPr/>
                    <a:lstStyle/>
                    <a:p>
                      <a:r>
                        <a:rPr sz="1875" b="0">
                          <a:solidFill>
                            <a:srgbClr val="241E36"/>
                          </a:solidFill>
                          <a:latin typeface="Arial"/>
                          <a:ea typeface="Arial"/>
                          <a:cs typeface="Arial"/>
                        </a:rPr>
                        <a:t>Main purpose</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Read and connect ideas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Retrieve before checking</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Anchor labels</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Concept titles visible</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Titles hidden as ???</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On selection</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Open the study note</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Show a recall prompt</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Next action</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Read, edit, or add notes</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Reveal and rate the attempt</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Progress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View existing status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Update mastery and review count</a:t>
                      </a:r>
                    </a:p>
                  </a:txBody>
                  <a:tcPr marL="142875" marR="142875"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3238D38D-9F49-41E4-9E51-DACC60897835}"/>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Ratings are self-assessments. The application does not automatically grade an answer.</a:t>
            </a:r>
          </a:p>
        </p:txBody>
      </p:sp>
    </p:spTree>
    <p:extLst>
      <p:ext uri="{BB962C8B-B14F-4D97-AF65-F5344CB8AC3E}">
        <p14:creationId xmlns:p14="http://schemas.microsoft.com/office/powerpoint/2010/main" val="1153854321"/>
      </p:ext>
    </p:extLst>
  </p:cSld>
</p:sld>
</file>

<file path=ppt/slides/slide9.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F388ECEB-0268-4B59-8B65-2661E0EF2BE7}"/>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Example: a Computer Science concept</a:t>
            </a:r>
          </a:p>
        </p:txBody>
      </p:sp>
      <p:sp>
        <p:nvSpPr>
          <p:cNvPr id="2" name="text-1">
            <a:extLst xmlns:a="http://schemas.openxmlformats.org/drawingml/2006/main">
              <a:ext uri="{FF2B5EF4-FFF2-40B4-BE49-F238E27FC236}">
                <a16:creationId xmlns:a16="http://schemas.microsoft.com/office/drawing/2014/main" id="{7FAD24EC-7065-46D5-8ADC-236D58B467A5}"/>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B1D926EE-1302-4D65-BEDD-0765EDB1CC8F}"/>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3F36C956-A461-4B56-BBB5-88323C482117}"/>
              </a:ext>
            </a:extLst>
          </p:cNvPr>
          <p:cNvSpPr>
            <a:spLocks xmlns:a="http://schemas.openxmlformats.org/drawingml/2006/main" noGrp="1"/>
          </p:cNvSpPr>
          <p:nvPr/>
        </p:nvSpPr>
        <p:spPr>
          <a:xfrm xmlns:a="http://schemas.openxmlformats.org/drawingml/2006/main">
            <a:off x="685800" y="16954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7651C8"/>
                </a:solidFill>
                <a:latin typeface="Arial"/>
                <a:ea typeface="Arial"/>
                <a:cs typeface="Arial"/>
              </a:defRPr>
            </a:pPr>
            <a:r>
              <a:rPr sz="1725" b="1">
                <a:solidFill>
                  <a:srgbClr val="7651C8"/>
                </a:solidFill>
                <a:latin typeface="Arial"/>
                <a:ea typeface="Arial"/>
                <a:cs typeface="Arial"/>
              </a:rPr>
              <a:t>BINARY TREES</a:t>
            </a:r>
          </a:p>
        </p:txBody>
      </p:sp>
      <p:sp>
        <p:nvSpPr>
          <p:cNvPr id="5" name="text-4">
            <a:extLst xmlns:a="http://schemas.openxmlformats.org/drawingml/2006/main">
              <a:ext uri="{FF2B5EF4-FFF2-40B4-BE49-F238E27FC236}">
                <a16:creationId xmlns:a16="http://schemas.microsoft.com/office/drawing/2014/main" id="{309C9E60-3C2D-4478-9528-12508B193BE8}"/>
              </a:ext>
            </a:extLst>
          </p:cNvPr>
          <p:cNvSpPr>
            <a:spLocks xmlns:a="http://schemas.openxmlformats.org/drawingml/2006/main" noGrp="1"/>
          </p:cNvSpPr>
          <p:nvPr/>
        </p:nvSpPr>
        <p:spPr>
          <a:xfrm xmlns:a="http://schemas.openxmlformats.org/drawingml/2006/main">
            <a:off x="685800" y="2266950"/>
            <a:ext cx="3571875"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241E36"/>
                </a:solidFill>
                <a:latin typeface="Arial"/>
                <a:ea typeface="Arial"/>
                <a:cs typeface="Arial"/>
              </a:defRPr>
            </a:pPr>
            <a:r>
              <a:rPr sz="2700" b="1">
                <a:solidFill>
                  <a:srgbClr val="241E36"/>
                </a:solidFill>
                <a:latin typeface="Arial"/>
                <a:ea typeface="Arial"/>
                <a:cs typeface="Arial"/>
              </a:rPr>
              <a:t>Place the concept at a distinctive location, then use that location as a recall cue.</a:t>
            </a:r>
          </a:p>
        </p:txBody>
      </p:sp>
      <p:sp>
        <p:nvSpPr>
          <p:cNvPr id="6" name="text-5">
            <a:extLst xmlns:a="http://schemas.openxmlformats.org/drawingml/2006/main">
              <a:ext uri="{FF2B5EF4-FFF2-40B4-BE49-F238E27FC236}">
                <a16:creationId xmlns:a16="http://schemas.microsoft.com/office/drawing/2014/main" id="{B2408810-F510-45AE-A961-08F13687C210}"/>
              </a:ext>
            </a:extLst>
          </p:cNvPr>
          <p:cNvSpPr>
            <a:spLocks xmlns:a="http://schemas.openxmlformats.org/drawingml/2006/main" noGrp="1"/>
          </p:cNvSpPr>
          <p:nvPr/>
        </p:nvSpPr>
        <p:spPr>
          <a:xfrm xmlns:a="http://schemas.openxmlformats.org/drawingml/2006/main">
            <a:off x="5191125" y="16954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Study note</a:t>
            </a:r>
          </a:p>
        </p:txBody>
      </p:sp>
      <p:sp>
        <p:nvSpPr>
          <p:cNvPr id="7" name="text-6">
            <a:extLst xmlns:a="http://schemas.openxmlformats.org/drawingml/2006/main">
              <a:ext uri="{FF2B5EF4-FFF2-40B4-BE49-F238E27FC236}">
                <a16:creationId xmlns:a16="http://schemas.microsoft.com/office/drawing/2014/main" id="{1D38FCB3-1E07-4271-9E01-2DC9BC2E1A2B}"/>
              </a:ext>
            </a:extLst>
          </p:cNvPr>
          <p:cNvSpPr>
            <a:spLocks xmlns:a="http://schemas.openxmlformats.org/drawingml/2006/main" noGrp="1"/>
          </p:cNvSpPr>
          <p:nvPr/>
        </p:nvSpPr>
        <p:spPr>
          <a:xfrm xmlns:a="http://schemas.openxmlformats.org/drawingml/2006/main">
            <a:off x="5191125" y="21526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41E36"/>
                </a:solidFill>
                <a:latin typeface="Arial"/>
                <a:ea typeface="Arial"/>
                <a:cs typeface="Arial"/>
              </a:defRPr>
            </a:pPr>
            <a:r>
              <a:rPr sz="2025" b="0">
                <a:solidFill>
                  <a:srgbClr val="241E36"/>
                </a:solidFill>
                <a:latin typeface="Arial"/>
                <a:ea typeface="Arial"/>
                <a:cs typeface="Arial"/>
              </a:rPr>
              <a:t>A binary tree allows each node to have at most two children.</a:t>
            </a:r>
          </a:p>
        </p:txBody>
      </p:sp>
      <p:sp>
        <p:nvSpPr>
          <p:cNvPr id="8" name="text-7">
            <a:extLst xmlns:a="http://schemas.openxmlformats.org/drawingml/2006/main">
              <a:ext uri="{FF2B5EF4-FFF2-40B4-BE49-F238E27FC236}">
                <a16:creationId xmlns:a16="http://schemas.microsoft.com/office/drawing/2014/main" id="{62D06AAE-4162-4169-AEDC-4C2E60572C4D}"/>
              </a:ext>
            </a:extLst>
          </p:cNvPr>
          <p:cNvSpPr>
            <a:spLocks xmlns:a="http://schemas.openxmlformats.org/drawingml/2006/main" noGrp="1"/>
          </p:cNvSpPr>
          <p:nvPr/>
        </p:nvSpPr>
        <p:spPr>
          <a:xfrm xmlns:a="http://schemas.openxmlformats.org/drawingml/2006/main">
            <a:off x="5191125" y="29337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Recall prompt</a:t>
            </a:r>
          </a:p>
        </p:txBody>
      </p:sp>
      <p:sp>
        <p:nvSpPr>
          <p:cNvPr id="9" name="text-8">
            <a:extLst xmlns:a="http://schemas.openxmlformats.org/drawingml/2006/main">
              <a:ext uri="{FF2B5EF4-FFF2-40B4-BE49-F238E27FC236}">
                <a16:creationId xmlns:a16="http://schemas.microsoft.com/office/drawing/2014/main" id="{4B58C2E8-CAA7-44F2-A1F4-7E3E0A759F61}"/>
              </a:ext>
            </a:extLst>
          </p:cNvPr>
          <p:cNvSpPr>
            <a:spLocks xmlns:a="http://schemas.openxmlformats.org/drawingml/2006/main" noGrp="1"/>
          </p:cNvSpPr>
          <p:nvPr/>
        </p:nvSpPr>
        <p:spPr>
          <a:xfrm xmlns:a="http://schemas.openxmlformats.org/drawingml/2006/main">
            <a:off x="5191125" y="33909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41E36"/>
                </a:solidFill>
                <a:latin typeface="Arial"/>
                <a:ea typeface="Arial"/>
                <a:cs typeface="Arial"/>
              </a:defRPr>
            </a:pPr>
            <a:r>
              <a:rPr sz="2025" b="0">
                <a:solidFill>
                  <a:srgbClr val="241E36"/>
                </a:solidFill>
                <a:latin typeface="Arial"/>
                <a:ea typeface="Arial"/>
                <a:cs typeface="Arial"/>
              </a:rPr>
              <a:t>What concept is anchored here? Explain the key idea before revealing it.</a:t>
            </a:r>
          </a:p>
        </p:txBody>
      </p:sp>
      <p:sp>
        <p:nvSpPr>
          <p:cNvPr id="10" name="text-9">
            <a:extLst xmlns:a="http://schemas.openxmlformats.org/drawingml/2006/main">
              <a:ext uri="{FF2B5EF4-FFF2-40B4-BE49-F238E27FC236}">
                <a16:creationId xmlns:a16="http://schemas.microsoft.com/office/drawing/2014/main" id="{F499D89A-EC1E-4C9A-9A00-619F6BD73F81}"/>
              </a:ext>
            </a:extLst>
          </p:cNvPr>
          <p:cNvSpPr>
            <a:spLocks xmlns:a="http://schemas.openxmlformats.org/drawingml/2006/main" noGrp="1"/>
          </p:cNvSpPr>
          <p:nvPr/>
        </p:nvSpPr>
        <p:spPr>
          <a:xfrm xmlns:a="http://schemas.openxmlformats.org/drawingml/2006/main">
            <a:off x="5191125" y="41719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Follow-up practice</a:t>
            </a:r>
          </a:p>
        </p:txBody>
      </p:sp>
      <p:sp>
        <p:nvSpPr>
          <p:cNvPr id="11" name="text-10">
            <a:extLst xmlns:a="http://schemas.openxmlformats.org/drawingml/2006/main">
              <a:ext uri="{FF2B5EF4-FFF2-40B4-BE49-F238E27FC236}">
                <a16:creationId xmlns:a16="http://schemas.microsoft.com/office/drawing/2014/main" id="{B8B260F9-FDE1-4426-A8AB-9922E1D84626}"/>
              </a:ext>
            </a:extLst>
          </p:cNvPr>
          <p:cNvSpPr>
            <a:spLocks xmlns:a="http://schemas.openxmlformats.org/drawingml/2006/main" noGrp="1"/>
          </p:cNvSpPr>
          <p:nvPr/>
        </p:nvSpPr>
        <p:spPr>
          <a:xfrm xmlns:a="http://schemas.openxmlformats.org/drawingml/2006/main">
            <a:off x="5191125" y="46291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41E36"/>
                </a:solidFill>
                <a:latin typeface="Arial"/>
                <a:ea typeface="Arial"/>
                <a:cs typeface="Arial"/>
              </a:defRPr>
            </a:pPr>
            <a:r>
              <a:rPr sz="2025" b="0">
                <a:solidFill>
                  <a:srgbClr val="241E36"/>
                </a:solidFill>
                <a:latin typeface="Arial"/>
                <a:ea typeface="Arial"/>
                <a:cs typeface="Arial"/>
              </a:rPr>
              <a:t>Draw a small tree and identify its root, leaves, and subtrees.</a:t>
            </a:r>
          </a:p>
        </p:txBody>
      </p:sp>
      <p:sp>
        <p:nvSpPr>
          <p:cNvPr id="12" name="text-11">
            <a:extLst xmlns:a="http://schemas.openxmlformats.org/drawingml/2006/main">
              <a:ext uri="{FF2B5EF4-FFF2-40B4-BE49-F238E27FC236}">
                <a16:creationId xmlns:a16="http://schemas.microsoft.com/office/drawing/2014/main" id="{B427322B-31D4-498A-B01C-EA83C68472BE}"/>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Illustrative study activity. Understanding and worked examples still matter.</a:t>
            </a:r>
          </a:p>
        </p:txBody>
      </p:sp>
    </p:spTree>
    <p:extLst>
      <p:ext uri="{BB962C8B-B14F-4D97-AF65-F5344CB8AC3E}">
        <p14:creationId xmlns:p14="http://schemas.microsoft.com/office/powerpoint/2010/main" val="324134862"/>
      </p:ext>
    </p:extLst>
  </p:cSld>
</p:sld>
</file>

<file path=ppt/slides/slide10.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BE5E30DE-168E-4FFC-9F31-17F8E6957B24}"/>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Value for students and lecturers</a:t>
            </a:r>
          </a:p>
        </p:txBody>
      </p:sp>
      <p:sp>
        <p:nvSpPr>
          <p:cNvPr id="2" name="text-1">
            <a:extLst xmlns:a="http://schemas.openxmlformats.org/drawingml/2006/main">
              <a:ext uri="{FF2B5EF4-FFF2-40B4-BE49-F238E27FC236}">
                <a16:creationId xmlns:a16="http://schemas.microsoft.com/office/drawing/2014/main" id="{BB3BA150-B763-4FDD-8D2F-B84C5BEA85C8}"/>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E99A1551-1195-4C95-9FD5-53B135C1BEB4}"/>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159651CD-2039-4C6D-A0A8-6A8596BFD4E4}"/>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For students</a:t>
            </a:r>
          </a:p>
        </p:txBody>
      </p:sp>
      <p:sp>
        <p:nvSpPr>
          <p:cNvPr id="5" name="text-4">
            <a:extLst xmlns:a="http://schemas.openxmlformats.org/drawingml/2006/main">
              <a:ext uri="{FF2B5EF4-FFF2-40B4-BE49-F238E27FC236}">
                <a16:creationId xmlns:a16="http://schemas.microsoft.com/office/drawing/2014/main" id="{F60C1209-7CA1-4BEE-B1E8-0E5F25321E28}"/>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personal space for each subject.</a:t>
            </a:r>
          </a:p>
        </p:txBody>
      </p:sp>
      <p:sp>
        <p:nvSpPr>
          <p:cNvPr id="6" name="text-5">
            <a:extLst xmlns:a="http://schemas.openxmlformats.org/drawingml/2006/main">
              <a:ext uri="{FF2B5EF4-FFF2-40B4-BE49-F238E27FC236}">
                <a16:creationId xmlns:a16="http://schemas.microsoft.com/office/drawing/2014/main" id="{3FBA7DCC-9E77-42CF-A701-174875DB726F}"/>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clear routine for practising recall.</a:t>
            </a:r>
          </a:p>
        </p:txBody>
      </p:sp>
      <p:sp>
        <p:nvSpPr>
          <p:cNvPr id="7" name="text-6">
            <a:extLst xmlns:a="http://schemas.openxmlformats.org/drawingml/2006/main">
              <a:ext uri="{FF2B5EF4-FFF2-40B4-BE49-F238E27FC236}">
                <a16:creationId xmlns:a16="http://schemas.microsoft.com/office/drawing/2014/main" id="{E90C47A8-5ADB-42DF-8196-79940AF11C2E}"/>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Editable notes, categories, and code blocks.</a:t>
            </a:r>
          </a:p>
        </p:txBody>
      </p:sp>
      <p:sp>
        <p:nvSpPr>
          <p:cNvPr id="8" name="text-7">
            <a:extLst xmlns:a="http://schemas.openxmlformats.org/drawingml/2006/main">
              <a:ext uri="{FF2B5EF4-FFF2-40B4-BE49-F238E27FC236}">
                <a16:creationId xmlns:a16="http://schemas.microsoft.com/office/drawing/2014/main" id="{44F4A47E-15F1-485C-B2F9-13E132B5441D}"/>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Visible self-rated progress.</a:t>
            </a:r>
          </a:p>
        </p:txBody>
      </p:sp>
      <p:sp>
        <p:nvSpPr>
          <p:cNvPr id="9" name="text-8">
            <a:extLst xmlns:a="http://schemas.openxmlformats.org/drawingml/2006/main">
              <a:ext uri="{FF2B5EF4-FFF2-40B4-BE49-F238E27FC236}">
                <a16:creationId xmlns:a16="http://schemas.microsoft.com/office/drawing/2014/main" id="{BCE8F77E-948B-45B1-B867-B139C784D54C}"/>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For lecturers</a:t>
            </a:r>
          </a:p>
        </p:txBody>
      </p:sp>
      <p:sp>
        <p:nvSpPr>
          <p:cNvPr id="10" name="text-9">
            <a:extLst xmlns:a="http://schemas.openxmlformats.org/drawingml/2006/main">
              <a:ext uri="{FF2B5EF4-FFF2-40B4-BE49-F238E27FC236}">
                <a16:creationId xmlns:a16="http://schemas.microsoft.com/office/drawing/2014/main" id="{76B54FF4-63F6-485F-B413-69E18E9DEF65}"/>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visual way to demonstrate a revision method.</a:t>
            </a:r>
          </a:p>
        </p:txBody>
      </p:sp>
      <p:sp>
        <p:nvSpPr>
          <p:cNvPr id="11" name="text-10">
            <a:extLst xmlns:a="http://schemas.openxmlformats.org/drawingml/2006/main">
              <a:ext uri="{FF2B5EF4-FFF2-40B4-BE49-F238E27FC236}">
                <a16:creationId xmlns:a16="http://schemas.microsoft.com/office/drawing/2014/main" id="{98D7F181-2568-4ABC-976F-598B29BF3CA7}"/>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Concept-based activities for classroom discussion.</a:t>
            </a:r>
          </a:p>
        </p:txBody>
      </p:sp>
      <p:sp>
        <p:nvSpPr>
          <p:cNvPr id="12" name="text-11">
            <a:extLst xmlns:a="http://schemas.openxmlformats.org/drawingml/2006/main">
              <a:ext uri="{FF2B5EF4-FFF2-40B4-BE49-F238E27FC236}">
                <a16:creationId xmlns:a16="http://schemas.microsoft.com/office/drawing/2014/main" id="{1099CC94-F713-436F-AB7F-CF76A9E53C36}"/>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project that connects education with web graphics.</a:t>
            </a:r>
          </a:p>
        </p:txBody>
      </p:sp>
      <p:sp>
        <p:nvSpPr>
          <p:cNvPr id="13" name="text-12">
            <a:extLst xmlns:a="http://schemas.openxmlformats.org/drawingml/2006/main">
              <a:ext uri="{FF2B5EF4-FFF2-40B4-BE49-F238E27FC236}">
                <a16:creationId xmlns:a16="http://schemas.microsoft.com/office/drawing/2014/main" id="{4F7BCAE8-018B-4575-B44B-D4391E0155F3}"/>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starting point for a supervised learning study.</a:t>
            </a:r>
          </a:p>
        </p:txBody>
      </p:sp>
      <p:sp>
        <p:nvSpPr>
          <p:cNvPr id="14" name="text-13">
            <a:extLst xmlns:a="http://schemas.openxmlformats.org/drawingml/2006/main">
              <a:ext uri="{FF2B5EF4-FFF2-40B4-BE49-F238E27FC236}">
                <a16:creationId xmlns:a16="http://schemas.microsoft.com/office/drawing/2014/main" id="{21F5F728-503D-4E50-A447-8D83AEA243CC}"/>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Lecturer dashboards, shared classes, and automatic grading are future possibilities.</a:t>
            </a:r>
          </a:p>
        </p:txBody>
      </p:sp>
    </p:spTree>
    <p:extLst>
      <p:ext uri="{BB962C8B-B14F-4D97-AF65-F5344CB8AC3E}">
        <p14:creationId xmlns:p14="http://schemas.microsoft.com/office/powerpoint/2010/main" val="1574274835"/>
      </p:ext>
    </p:extLst>
  </p:cSld>
</p:sld>
</file>

<file path=ppt/slides/slide11.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1CB1F8E-3D01-453D-B4FD-EA5A8EC450C1}"/>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Languages and technologies</a:t>
            </a:r>
          </a:p>
        </p:txBody>
      </p:sp>
      <p:sp>
        <p:nvSpPr>
          <p:cNvPr id="2" name="text-1">
            <a:extLst xmlns:a="http://schemas.openxmlformats.org/drawingml/2006/main">
              <a:ext uri="{FF2B5EF4-FFF2-40B4-BE49-F238E27FC236}">
                <a16:creationId xmlns:a16="http://schemas.microsoft.com/office/drawing/2014/main" id="{A7C4671A-AEB4-4047-BDC7-D54C17AF88A6}"/>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63B11F33-C27C-47D6-B38A-3D62E4C66696}"/>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11</a:t>
            </a:r>
          </a:p>
        </p:txBody>
      </p:sp>
      <p:graphicFrame>
        <p:nvGraphicFramePr>
          <p:cNvPr id="9" name=""/>
          <p:cNvGraphicFramePr/>
          <p:nvPr/>
        </p:nvGraphicFramePr>
        <p:xfrm>
          <a:off xmlns:a="http://schemas.openxmlformats.org/drawingml/2006/main" x="685800" y="1666875"/>
          <a:ext xmlns:a="http://schemas.openxmlformats.org/drawingml/2006/main" cx="10858500" cy="3857625"/>
        </p:xfrm>
        <a:graphic xmlns:a="http://schemas.openxmlformats.org/drawingml/2006/main">
          <a:graphicData uri="http://schemas.openxmlformats.org/drawingml/2006/table">
            <a:tbl>
              <a:tblPr/>
              <a:tblGrid>
                <a:gridCol w="3429000"/>
                <a:gridCol w="7429500"/>
              </a:tblGrid>
              <a:tr h="551089">
                <a:tc>
                  <a:txBody>
                    <a:bodyPr/>
                    <a:lstStyle/>
                    <a:p>
                      <a:r>
                        <a:rPr sz="1800" b="1">
                          <a:solidFill>
                            <a:srgbClr val="FFFFFF"/>
                          </a:solidFill>
                          <a:latin typeface="Arial"/>
                          <a:ea typeface="Arial"/>
                          <a:cs typeface="Arial"/>
                        </a:rPr>
                        <a:t>Technology</a:t>
                      </a:r>
                    </a:p>
                  </a:txBody>
                  <a:tcPr marL="142875" marR="142875" marT="95250" marB="95250" anchor="ctr">
                    <a:solidFill>
                      <a:srgbClr val="7651C8"/>
                    </a:solidFill>
                  </a:tcPr>
                </a:tc>
                <a:tc>
                  <a:txBody>
                    <a:bodyPr/>
                    <a:lstStyle/>
                    <a:p>
                      <a:r>
                        <a:rPr sz="1800" b="1">
                          <a:solidFill>
                            <a:srgbClr val="FFFFFF"/>
                          </a:solidFill>
                          <a:latin typeface="Arial"/>
                          <a:ea typeface="Arial"/>
                          <a:cs typeface="Arial"/>
                        </a:rPr>
                        <a:t>Role in this project</a:t>
                      </a:r>
                    </a:p>
                  </a:txBody>
                  <a:tcPr marL="142875" marR="142875" marT="95250" marB="95250" anchor="ctr">
                    <a:solidFill>
                      <a:srgbClr val="7651C8"/>
                    </a:solidFill>
                  </a:tcPr>
                </a:tc>
              </a:tr>
              <a:tr h="551089">
                <a:tc>
                  <a:txBody>
                    <a:bodyPr/>
                    <a:lstStyle/>
                    <a:p>
                      <a:r>
                        <a:rPr sz="1800" b="0">
                          <a:solidFill>
                            <a:srgbClr val="241E36"/>
                          </a:solidFill>
                          <a:latin typeface="Arial"/>
                          <a:ea typeface="Arial"/>
                          <a:cs typeface="Arial"/>
                        </a:rPr>
                        <a:t>TypeScript and TSX</a:t>
                      </a:r>
                    </a:p>
                  </a:txBody>
                  <a:tcPr marL="142875" marR="142875" marT="95250" marB="95250" anchor="ctr">
                    <a:solidFill>
                      <a:srgbClr val="FFFFFF"/>
                    </a:solidFill>
                  </a:tcPr>
                </a:tc>
                <a:tc>
                  <a:txBody>
                    <a:bodyPr/>
                    <a:lstStyle/>
                    <a:p>
                      <a:r>
                        <a:rPr sz="1800" b="0">
                          <a:solidFill>
                            <a:srgbClr val="241E36"/>
                          </a:solidFill>
                          <a:latin typeface="Arial"/>
                          <a:ea typeface="Arial"/>
                          <a:cs typeface="Arial"/>
                        </a:rPr>
                        <a:t>Application logic, typed data, and React components</a:t>
                      </a:r>
                    </a:p>
                  </a:txBody>
                  <a:tcPr marL="142875" marR="142875" marT="95250" marB="95250" anchor="ctr">
                    <a:solidFill>
                      <a:srgbClr val="FFFFFF"/>
                    </a:solidFill>
                  </a:tcPr>
                </a:tc>
              </a:tr>
              <a:tr h="551089">
                <a:tc>
                  <a:txBody>
                    <a:bodyPr/>
                    <a:lstStyle/>
                    <a:p>
                      <a:r>
                        <a:rPr sz="1800" b="0">
                          <a:solidFill>
                            <a:srgbClr val="241E36"/>
                          </a:solidFill>
                          <a:latin typeface="Arial"/>
                          <a:ea typeface="Arial"/>
                          <a:cs typeface="Arial"/>
                        </a:rPr>
                        <a:t>HTML and CSS</a:t>
                      </a:r>
                    </a:p>
                  </a:txBody>
                  <a:tcPr marL="142875" marR="142875" marT="95250" marB="95250" anchor="ctr">
                    <a:solidFill>
                      <a:srgbClr val="F0ECF7"/>
                    </a:solidFill>
                  </a:tcPr>
                </a:tc>
                <a:tc>
                  <a:txBody>
                    <a:bodyPr/>
                    <a:lstStyle/>
                    <a:p>
                      <a:r>
                        <a:rPr sz="1800" b="0">
                          <a:solidFill>
                            <a:srgbClr val="241E36"/>
                          </a:solidFill>
                          <a:latin typeface="Arial"/>
                          <a:ea typeface="Arial"/>
                          <a:cs typeface="Arial"/>
                        </a:rPr>
                        <a:t>Page structure, responsive layouts, and styling</a:t>
                      </a:r>
                    </a:p>
                  </a:txBody>
                  <a:tcPr marL="142875" marR="142875" marT="95250" marB="95250" anchor="ctr">
                    <a:solidFill>
                      <a:srgbClr val="F0ECF7"/>
                    </a:solidFill>
                  </a:tcPr>
                </a:tc>
              </a:tr>
              <a:tr h="551089">
                <a:tc>
                  <a:txBody>
                    <a:bodyPr/>
                    <a:lstStyle/>
                    <a:p>
                      <a:r>
                        <a:rPr sz="1800" b="0">
                          <a:solidFill>
                            <a:srgbClr val="241E36"/>
                          </a:solidFill>
                          <a:latin typeface="Arial"/>
                          <a:ea typeface="Arial"/>
                          <a:cs typeface="Arial"/>
                        </a:rPr>
                        <a:t>Next.js 16 and React 19</a:t>
                      </a:r>
                    </a:p>
                  </a:txBody>
                  <a:tcPr marL="142875" marR="142875" marT="95250" marB="95250" anchor="ctr">
                    <a:solidFill>
                      <a:srgbClr val="FFFFFF"/>
                    </a:solidFill>
                  </a:tcPr>
                </a:tc>
                <a:tc>
                  <a:txBody>
                    <a:bodyPr/>
                    <a:lstStyle/>
                    <a:p>
                      <a:r>
                        <a:rPr sz="1800" b="0">
                          <a:solidFill>
                            <a:srgbClr val="241E36"/>
                          </a:solidFill>
                          <a:latin typeface="Arial"/>
                          <a:ea typeface="Arial"/>
                          <a:cs typeface="Arial"/>
                        </a:rPr>
                        <a:t>Application framework and interactive interface</a:t>
                      </a:r>
                    </a:p>
                  </a:txBody>
                  <a:tcPr marL="142875" marR="142875" marT="95250" marB="95250" anchor="ctr">
                    <a:solidFill>
                      <a:srgbClr val="FFFFFF"/>
                    </a:solidFill>
                  </a:tcPr>
                </a:tc>
              </a:tr>
              <a:tr h="551089">
                <a:tc>
                  <a:txBody>
                    <a:bodyPr/>
                    <a:lstStyle/>
                    <a:p>
                      <a:r>
                        <a:rPr sz="1800" b="0">
                          <a:solidFill>
                            <a:srgbClr val="241E36"/>
                          </a:solidFill>
                          <a:latin typeface="Arial"/>
                          <a:ea typeface="Arial"/>
                          <a:cs typeface="Arial"/>
                        </a:rPr>
                        <a:t>Three.js + R3F</a:t>
                      </a:r>
                    </a:p>
                  </a:txBody>
                  <a:tcPr marL="142875" marR="142875" marT="95250" marB="95250" anchor="ctr">
                    <a:solidFill>
                      <a:srgbClr val="F0ECF7"/>
                    </a:solidFill>
                  </a:tcPr>
                </a:tc>
                <a:tc>
                  <a:txBody>
                    <a:bodyPr/>
                    <a:lstStyle/>
                    <a:p>
                      <a:r>
                        <a:rPr sz="1800" b="0">
                          <a:solidFill>
                            <a:srgbClr val="241E36"/>
                          </a:solidFill>
                          <a:latin typeface="Arial"/>
                          <a:ea typeface="Arial"/>
                          <a:cs typeface="Arial"/>
                        </a:rPr>
                        <a:t>WebGL graphics and React-managed 3D objects</a:t>
                      </a:r>
                    </a:p>
                  </a:txBody>
                  <a:tcPr marL="142875" marR="142875" marT="95250" marB="95250" anchor="ctr">
                    <a:solidFill>
                      <a:srgbClr val="F0ECF7"/>
                    </a:solidFill>
                  </a:tcPr>
                </a:tc>
              </a:tr>
              <a:tr h="551089">
                <a:tc>
                  <a:txBody>
                    <a:bodyPr/>
                    <a:lstStyle/>
                    <a:p>
                      <a:r>
                        <a:rPr sz="1800" b="0">
                          <a:solidFill>
                            <a:srgbClr val="241E36"/>
                          </a:solidFill>
                          <a:latin typeface="Arial"/>
                          <a:ea typeface="Arial"/>
                          <a:cs typeface="Arial"/>
                        </a:rPr>
                        <a:t>Zustand</a:t>
                      </a:r>
                    </a:p>
                  </a:txBody>
                  <a:tcPr marL="142875" marR="142875" marT="95250" marB="95250" anchor="ctr">
                    <a:solidFill>
                      <a:srgbClr val="FFFFFF"/>
                    </a:solidFill>
                  </a:tcPr>
                </a:tc>
                <a:tc>
                  <a:txBody>
                    <a:bodyPr/>
                    <a:lstStyle/>
                    <a:p>
                      <a:r>
                        <a:rPr sz="1800" b="0">
                          <a:solidFill>
                            <a:srgbClr val="241E36"/>
                          </a:solidFill>
                          <a:latin typeface="Arial"/>
                          <a:ea typeface="Arial"/>
                          <a:cs typeface="Arial"/>
                        </a:rPr>
                        <a:t>Shared state and persistence on the device</a:t>
                      </a:r>
                    </a:p>
                  </a:txBody>
                  <a:tcPr marL="142875" marR="142875" marT="95250" marB="95250" anchor="ctr">
                    <a:solidFill>
                      <a:srgbClr val="FFFFFF"/>
                    </a:solidFill>
                  </a:tcPr>
                </a:tc>
              </a:tr>
              <a:tr h="551089">
                <a:tc>
                  <a:txBody>
                    <a:bodyPr/>
                    <a:lstStyle/>
                    <a:p>
                      <a:r>
                        <a:rPr sz="1800" b="0">
                          <a:solidFill>
                            <a:srgbClr val="241E36"/>
                          </a:solidFill>
                          <a:latin typeface="Arial"/>
                          <a:ea typeface="Arial"/>
                          <a:cs typeface="Arial"/>
                        </a:rPr>
                        <a:t>Node.js and npm</a:t>
                      </a:r>
                    </a:p>
                  </a:txBody>
                  <a:tcPr marL="142875" marR="142875" marT="95250" marB="95250" anchor="ctr">
                    <a:solidFill>
                      <a:srgbClr val="F0ECF7"/>
                    </a:solidFill>
                  </a:tcPr>
                </a:tc>
                <a:tc>
                  <a:txBody>
                    <a:bodyPr/>
                    <a:lstStyle/>
                    <a:p>
                      <a:r>
                        <a:rPr sz="1800" b="0">
                          <a:solidFill>
                            <a:srgbClr val="241E36"/>
                          </a:solidFill>
                          <a:latin typeface="Arial"/>
                          <a:ea typeface="Arial"/>
                          <a:cs typeface="Arial"/>
                        </a:rPr>
                        <a:t>Development tools, build process, and local serving</a:t>
                      </a:r>
                    </a:p>
                  </a:txBody>
                  <a:tcPr marL="142875" marR="142875" marT="95250" marB="95250" anchor="ctr">
                    <a:solidFill>
                      <a:srgbClr val="F0ECF7"/>
                    </a:solidFill>
                  </a:tcPr>
                </a:tc>
              </a:tr>
            </a:tbl>
          </a:graphicData>
        </a:graphic>
      </p:graphicFrame>
      <p:sp>
        <p:nvSpPr>
          <p:cNvPr id="5" name="text-3">
            <a:extLst xmlns:a="http://schemas.openxmlformats.org/drawingml/2006/main">
              <a:ext uri="{FF2B5EF4-FFF2-40B4-BE49-F238E27FC236}">
                <a16:creationId xmlns:a16="http://schemas.microsoft.com/office/drawing/2014/main" id="{2FDEEAD5-8BB9-4FE9-9F91-08EB182E19CA}"/>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Tailwind CSS, Drei, GSAP, Markdown libraries, and postprocessing support the experience.</a:t>
            </a:r>
          </a:p>
        </p:txBody>
      </p:sp>
    </p:spTree>
    <p:extLst>
      <p:ext uri="{BB962C8B-B14F-4D97-AF65-F5344CB8AC3E}">
        <p14:creationId xmlns:p14="http://schemas.microsoft.com/office/powerpoint/2010/main" val="231464582"/>
      </p:ext>
    </p:extLst>
  </p:cSld>
</p:sld>
</file>

<file path=ppt/slides/slide12.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33EAF7C-370F-451D-857E-AF30A94B334A}"/>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Frontend architecture</a:t>
            </a:r>
          </a:p>
        </p:txBody>
      </p:sp>
      <p:sp>
        <p:nvSpPr>
          <p:cNvPr id="2" name="text-1">
            <a:extLst xmlns:a="http://schemas.openxmlformats.org/drawingml/2006/main">
              <a:ext uri="{FF2B5EF4-FFF2-40B4-BE49-F238E27FC236}">
                <a16:creationId xmlns:a16="http://schemas.microsoft.com/office/drawing/2014/main" id="{2B08C3DB-BD2F-41A8-B249-4C68EC67E47C}"/>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E3826975-3873-4F5A-9A94-2B73D6EE5ECB}"/>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12</a:t>
            </a:r>
          </a:p>
        </p:txBody>
      </p:sp>
      <p:graphicFrame>
        <p:nvGraphicFramePr>
          <p:cNvPr id="9" name=""/>
          <p:cNvGraphicFramePr/>
          <p:nvPr/>
        </p:nvGraphicFramePr>
        <p:xfrm>
          <a:off xmlns:a="http://schemas.openxmlformats.org/drawingml/2006/main" x="685800" y="1666875"/>
          <a:ext xmlns:a="http://schemas.openxmlformats.org/drawingml/2006/main" cx="10858500" cy="3667125"/>
        </p:xfrm>
        <a:graphic xmlns:a="http://schemas.openxmlformats.org/drawingml/2006/main">
          <a:graphicData uri="http://schemas.openxmlformats.org/drawingml/2006/table">
            <a:tbl>
              <a:tblPr/>
              <a:tblGrid>
                <a:gridCol w="3714750"/>
                <a:gridCol w="7143750"/>
              </a:tblGrid>
              <a:tr h="611188">
                <a:tc>
                  <a:txBody>
                    <a:bodyPr/>
                    <a:lstStyle/>
                    <a:p>
                      <a:r>
                        <a:rPr sz="1875" b="1">
                          <a:solidFill>
                            <a:srgbClr val="FFFFFF"/>
                          </a:solidFill>
                          <a:latin typeface="Arial"/>
                          <a:ea typeface="Arial"/>
                          <a:cs typeface="Arial"/>
                        </a:rPr>
                        <a:t>Layer</a:t>
                      </a:r>
                    </a:p>
                  </a:txBody>
                  <a:tcPr marL="142875" marR="142875" marT="95250" marB="95250" anchor="ctr">
                    <a:solidFill>
                      <a:srgbClr val="7651C8"/>
                    </a:solidFill>
                  </a:tcPr>
                </a:tc>
                <a:tc>
                  <a:txBody>
                    <a:bodyPr/>
                    <a:lstStyle/>
                    <a:p>
                      <a:r>
                        <a:rPr sz="1875" b="1">
                          <a:solidFill>
                            <a:srgbClr val="FFFFFF"/>
                          </a:solidFill>
                          <a:latin typeface="Arial"/>
                          <a:ea typeface="Arial"/>
                          <a:cs typeface="Arial"/>
                        </a:rPr>
                        <a:t>Responsibility</a:t>
                      </a:r>
                    </a:p>
                  </a:txBody>
                  <a:tcPr marL="142875" marR="142875" marT="95250" marB="95250" anchor="ctr">
                    <a:solidFill>
                      <a:srgbClr val="7651C8"/>
                    </a:solidFill>
                  </a:tcPr>
                </a:tc>
              </a:tr>
              <a:tr h="611188">
                <a:tc>
                  <a:txBody>
                    <a:bodyPr/>
                    <a:lstStyle/>
                    <a:p>
                      <a:r>
                        <a:rPr sz="1875" b="0">
                          <a:solidFill>
                            <a:srgbClr val="241E36"/>
                          </a:solidFill>
                          <a:latin typeface="Arial"/>
                          <a:ea typeface="Arial"/>
                          <a:cs typeface="Arial"/>
                        </a:rPr>
                        <a:t>App Router entry</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Loads the application shell and client workspace</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NeuroQuest workspace</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Navigation, search, settings, map, and progress</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Study panels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New rooms, notes, editing, recall, and ratings</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Zustand store</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Validates actions and connects the UI with the scene</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3D scene components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Environment, anchors, camera, and visual effects</a:t>
                      </a:r>
                    </a:p>
                  </a:txBody>
                  <a:tcPr marL="142875" marR="142875"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47F97FCC-901A-4C08-BD48-C919B2AAE864}"/>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WebGL loads only in the browser. Unsaved form input stays in component state.</a:t>
            </a:r>
          </a:p>
        </p:txBody>
      </p:sp>
    </p:spTree>
    <p:extLst>
      <p:ext uri="{BB962C8B-B14F-4D97-AF65-F5344CB8AC3E}">
        <p14:creationId xmlns:p14="http://schemas.microsoft.com/office/powerpoint/2010/main" val="197997751"/>
      </p:ext>
    </p:extLst>
  </p:cSld>
</p:sld>
</file>

<file path=ppt/slides/slide13.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19D2EF56-C96E-4BC5-B6B4-FBE8574C6D39}"/>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How the 3D experience works</a:t>
            </a:r>
          </a:p>
        </p:txBody>
      </p:sp>
      <p:sp>
        <p:nvSpPr>
          <p:cNvPr id="2" name="text-1">
            <a:extLst xmlns:a="http://schemas.openxmlformats.org/drawingml/2006/main">
              <a:ext uri="{FF2B5EF4-FFF2-40B4-BE49-F238E27FC236}">
                <a16:creationId xmlns:a16="http://schemas.microsoft.com/office/drawing/2014/main" id="{E3CA2293-7F2E-405A-B955-868136AA0F9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1FB064BD-9819-477D-AF47-3A7C28D096F5}"/>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EA507031-95D8-4690-B4EB-53220A911AC8}"/>
              </a:ext>
            </a:extLst>
          </p:cNvPr>
          <p:cNvSpPr>
            <a:spLocks xmlns:a="http://schemas.openxmlformats.org/drawingml/2006/main" noGrp="1"/>
          </p:cNvSpPr>
          <p:nvPr/>
        </p:nvSpPr>
        <p:spPr>
          <a:xfrm xmlns:a="http://schemas.openxmlformats.org/drawingml/2006/main">
            <a:off x="685800" y="17621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Scene</a:t>
            </a:r>
          </a:p>
        </p:txBody>
      </p:sp>
      <p:sp>
        <p:nvSpPr>
          <p:cNvPr id="5" name="text-4">
            <a:extLst xmlns:a="http://schemas.openxmlformats.org/drawingml/2006/main">
              <a:ext uri="{FF2B5EF4-FFF2-40B4-BE49-F238E27FC236}">
                <a16:creationId xmlns:a16="http://schemas.microsoft.com/office/drawing/2014/main" id="{D40A35DC-5C24-440F-A1CC-0CDDD6EA2022}"/>
              </a:ext>
            </a:extLst>
          </p:cNvPr>
          <p:cNvSpPr>
            <a:spLocks xmlns:a="http://schemas.openxmlformats.org/drawingml/2006/main" noGrp="1"/>
          </p:cNvSpPr>
          <p:nvPr/>
        </p:nvSpPr>
        <p:spPr>
          <a:xfrm xmlns:a="http://schemas.openxmlformats.org/drawingml/2006/main">
            <a:off x="3714750" y="17621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Procedural architecture, lighting, a floor grid, and pedestals.</a:t>
            </a:r>
          </a:p>
        </p:txBody>
      </p:sp>
      <p:sp>
        <p:nvSpPr>
          <p:cNvPr id="6" name="text-5">
            <a:extLst xmlns:a="http://schemas.openxmlformats.org/drawingml/2006/main">
              <a:ext uri="{FF2B5EF4-FFF2-40B4-BE49-F238E27FC236}">
                <a16:creationId xmlns:a16="http://schemas.microsoft.com/office/drawing/2014/main" id="{6EB8F549-C900-4946-9303-157EB1D6F2FA}"/>
              </a:ext>
            </a:extLst>
          </p:cNvPr>
          <p:cNvSpPr>
            <a:spLocks xmlns:a="http://schemas.openxmlformats.org/drawingml/2006/main" noGrp="1"/>
          </p:cNvSpPr>
          <p:nvPr/>
        </p:nvSpPr>
        <p:spPr>
          <a:xfrm xmlns:a="http://schemas.openxmlformats.org/drawingml/2006/main">
            <a:off x="685800" y="27336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MemoryAnchor</a:t>
            </a:r>
          </a:p>
        </p:txBody>
      </p:sp>
      <p:sp>
        <p:nvSpPr>
          <p:cNvPr id="7" name="text-6">
            <a:extLst xmlns:a="http://schemas.openxmlformats.org/drawingml/2006/main">
              <a:ext uri="{FF2B5EF4-FFF2-40B4-BE49-F238E27FC236}">
                <a16:creationId xmlns:a16="http://schemas.microsoft.com/office/drawing/2014/main" id="{00E1D41B-4BB9-44B0-B89A-07CDFD97802F}"/>
              </a:ext>
            </a:extLst>
          </p:cNvPr>
          <p:cNvSpPr>
            <a:spLocks xmlns:a="http://schemas.openxmlformats.org/drawingml/2006/main" noGrp="1"/>
          </p:cNvSpPr>
          <p:nvPr/>
        </p:nvSpPr>
        <p:spPr>
          <a:xfrm xmlns:a="http://schemas.openxmlformats.org/drawingml/2006/main">
            <a:off x="3714750" y="27336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Six artifact shapes with gentle hovering, rotation, and hover feedback.</a:t>
            </a:r>
          </a:p>
        </p:txBody>
      </p:sp>
      <p:sp>
        <p:nvSpPr>
          <p:cNvPr id="8" name="text-7">
            <a:extLst xmlns:a="http://schemas.openxmlformats.org/drawingml/2006/main">
              <a:ext uri="{FF2B5EF4-FFF2-40B4-BE49-F238E27FC236}">
                <a16:creationId xmlns:a16="http://schemas.microsoft.com/office/drawing/2014/main" id="{533595A8-74C0-40B8-94CF-11C8A8AAA555}"/>
              </a:ext>
            </a:extLst>
          </p:cNvPr>
          <p:cNvSpPr>
            <a:spLocks xmlns:a="http://schemas.openxmlformats.org/drawingml/2006/main" noGrp="1"/>
          </p:cNvSpPr>
          <p:nvPr/>
        </p:nvSpPr>
        <p:spPr>
          <a:xfrm xmlns:a="http://schemas.openxmlformats.org/drawingml/2006/main">
            <a:off x="685800" y="37052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CameraController</a:t>
            </a:r>
          </a:p>
        </p:txBody>
      </p:sp>
      <p:sp>
        <p:nvSpPr>
          <p:cNvPr id="9" name="text-8">
            <a:extLst xmlns:a="http://schemas.openxmlformats.org/drawingml/2006/main">
              <a:ext uri="{FF2B5EF4-FFF2-40B4-BE49-F238E27FC236}">
                <a16:creationId xmlns:a16="http://schemas.microsoft.com/office/drawing/2014/main" id="{A0B6ED57-6172-41F1-8862-29248D32B660}"/>
              </a:ext>
            </a:extLst>
          </p:cNvPr>
          <p:cNvSpPr>
            <a:spLocks xmlns:a="http://schemas.openxmlformats.org/drawingml/2006/main" noGrp="1"/>
          </p:cNvSpPr>
          <p:nvPr/>
        </p:nvSpPr>
        <p:spPr>
          <a:xfrm xmlns:a="http://schemas.openxmlformats.org/drawingml/2006/main">
            <a:off x="3714750" y="37052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Bounded orbit controls and smooth focus transitions using GSAP.</a:t>
            </a:r>
          </a:p>
        </p:txBody>
      </p:sp>
      <p:sp>
        <p:nvSpPr>
          <p:cNvPr id="10" name="text-9">
            <a:extLst xmlns:a="http://schemas.openxmlformats.org/drawingml/2006/main">
              <a:ext uri="{FF2B5EF4-FFF2-40B4-BE49-F238E27FC236}">
                <a16:creationId xmlns:a16="http://schemas.microsoft.com/office/drawing/2014/main" id="{B4FB2C36-F492-47E6-BA91-CC30D94E7353}"/>
              </a:ext>
            </a:extLst>
          </p:cNvPr>
          <p:cNvSpPr>
            <a:spLocks xmlns:a="http://schemas.openxmlformats.org/drawingml/2006/main" noGrp="1"/>
          </p:cNvSpPr>
          <p:nvPr/>
        </p:nvSpPr>
        <p:spPr>
          <a:xfrm xmlns:a="http://schemas.openxmlformats.org/drawingml/2006/main">
            <a:off x="685800" y="46767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PostProcessing</a:t>
            </a:r>
          </a:p>
        </p:txBody>
      </p:sp>
      <p:sp>
        <p:nvSpPr>
          <p:cNvPr id="11" name="text-10">
            <a:extLst xmlns:a="http://schemas.openxmlformats.org/drawingml/2006/main">
              <a:ext uri="{FF2B5EF4-FFF2-40B4-BE49-F238E27FC236}">
                <a16:creationId xmlns:a16="http://schemas.microsoft.com/office/drawing/2014/main" id="{54606AFA-04F2-4BA4-9C26-B4F565B5FC15}"/>
              </a:ext>
            </a:extLst>
          </p:cNvPr>
          <p:cNvSpPr>
            <a:spLocks xmlns:a="http://schemas.openxmlformats.org/drawingml/2006/main" noGrp="1"/>
          </p:cNvSpPr>
          <p:nvPr/>
        </p:nvSpPr>
        <p:spPr>
          <a:xfrm xmlns:a="http://schemas.openxmlformats.org/drawingml/2006/main">
            <a:off x="3714750" y="46767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Bloom, vignette, and subtle chromatic aberration create atmosphere.</a:t>
            </a:r>
          </a:p>
        </p:txBody>
      </p:sp>
      <p:sp>
        <p:nvSpPr>
          <p:cNvPr id="12" name="text-11">
            <a:extLst xmlns:a="http://schemas.openxmlformats.org/drawingml/2006/main">
              <a:ext uri="{FF2B5EF4-FFF2-40B4-BE49-F238E27FC236}">
                <a16:creationId xmlns:a16="http://schemas.microsoft.com/office/drawing/2014/main" id="{1CED0D5A-4E36-4225-87BB-C79F04727265}"/>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Reduced-motion support, adjustable effects, and an HTML fallback support different devices.</a:t>
            </a:r>
          </a:p>
        </p:txBody>
      </p:sp>
    </p:spTree>
    <p:extLst>
      <p:ext uri="{BB962C8B-B14F-4D97-AF65-F5344CB8AC3E}">
        <p14:creationId xmlns:p14="http://schemas.microsoft.com/office/powerpoint/2010/main" val="1379106727"/>
      </p:ext>
    </p:extLst>
  </p:cSld>
</p:sld>
</file>

<file path=ppt/slides/slide14.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6A85F76-01C6-4158-A2D1-4CA183A69B9C}"/>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Data and local persistence</a:t>
            </a:r>
          </a:p>
        </p:txBody>
      </p:sp>
      <p:sp>
        <p:nvSpPr>
          <p:cNvPr id="2" name="text-1">
            <a:extLst xmlns:a="http://schemas.openxmlformats.org/drawingml/2006/main">
              <a:ext uri="{FF2B5EF4-FFF2-40B4-BE49-F238E27FC236}">
                <a16:creationId xmlns:a16="http://schemas.microsoft.com/office/drawing/2014/main" id="{2F557F48-DEBA-401B-99BB-E5259F156768}"/>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0F04E87F-8BF9-4560-95BC-5F9CE28EBCFF}"/>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14</a:t>
            </a:r>
          </a:p>
        </p:txBody>
      </p:sp>
      <p:sp>
        <p:nvSpPr>
          <p:cNvPr id="4" name="text-3">
            <a:extLst xmlns:a="http://schemas.openxmlformats.org/drawingml/2006/main">
              <a:ext uri="{FF2B5EF4-FFF2-40B4-BE49-F238E27FC236}">
                <a16:creationId xmlns:a16="http://schemas.microsoft.com/office/drawing/2014/main" id="{2B0E701F-B817-46A2-A7EC-5EC449FC914B}"/>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Saved on this browser</a:t>
            </a:r>
          </a:p>
        </p:txBody>
      </p:sp>
      <p:sp>
        <p:nvSpPr>
          <p:cNvPr id="5" name="text-4">
            <a:extLst xmlns:a="http://schemas.openxmlformats.org/drawingml/2006/main">
              <a:ext uri="{FF2B5EF4-FFF2-40B4-BE49-F238E27FC236}">
                <a16:creationId xmlns:a16="http://schemas.microsoft.com/office/drawing/2014/main" id="{DC3851A3-2FD1-4AF3-9F96-4FCDBC4BC097}"/>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Rooms and memory anchors.</a:t>
            </a:r>
          </a:p>
        </p:txBody>
      </p:sp>
      <p:sp>
        <p:nvSpPr>
          <p:cNvPr id="6" name="text-5">
            <a:extLst xmlns:a="http://schemas.openxmlformats.org/drawingml/2006/main">
              <a:ext uri="{FF2B5EF4-FFF2-40B4-BE49-F238E27FC236}">
                <a16:creationId xmlns:a16="http://schemas.microsoft.com/office/drawing/2014/main" id="{1EF1297D-8FBC-47F8-A8D6-ED3A4CB4DC66}"/>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Mastery status and review counts.</a:t>
            </a:r>
          </a:p>
        </p:txBody>
      </p:sp>
      <p:sp>
        <p:nvSpPr>
          <p:cNvPr id="7" name="text-6">
            <a:extLst xmlns:a="http://schemas.openxmlformats.org/drawingml/2006/main">
              <a:ext uri="{FF2B5EF4-FFF2-40B4-BE49-F238E27FC236}">
                <a16:creationId xmlns:a16="http://schemas.microsoft.com/office/drawing/2014/main" id="{57830A44-9F07-46E2-8383-AE20EE63D0D7}"/>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Latest review time and selected preferences.</a:t>
            </a:r>
          </a:p>
        </p:txBody>
      </p:sp>
      <p:sp>
        <p:nvSpPr>
          <p:cNvPr id="8" name="text-7">
            <a:extLst xmlns:a="http://schemas.openxmlformats.org/drawingml/2006/main">
              <a:ext uri="{FF2B5EF4-FFF2-40B4-BE49-F238E27FC236}">
                <a16:creationId xmlns:a16="http://schemas.microsoft.com/office/drawing/2014/main" id="{A37D13B6-9B30-4336-A9AA-5FA89DD2AD34}"/>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Schema version 2 with older-data migration.</a:t>
            </a:r>
          </a:p>
        </p:txBody>
      </p:sp>
      <p:sp>
        <p:nvSpPr>
          <p:cNvPr id="9" name="text-8">
            <a:extLst xmlns:a="http://schemas.openxmlformats.org/drawingml/2006/main">
              <a:ext uri="{FF2B5EF4-FFF2-40B4-BE49-F238E27FC236}">
                <a16:creationId xmlns:a16="http://schemas.microsoft.com/office/drawing/2014/main" id="{E59904FC-C867-43B9-8255-11F9473D67B8}"/>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Important boundaries</a:t>
            </a:r>
          </a:p>
        </p:txBody>
      </p:sp>
      <p:sp>
        <p:nvSpPr>
          <p:cNvPr id="10" name="text-9">
            <a:extLst xmlns:a="http://schemas.openxmlformats.org/drawingml/2006/main">
              <a:ext uri="{FF2B5EF4-FFF2-40B4-BE49-F238E27FC236}">
                <a16:creationId xmlns:a16="http://schemas.microsoft.com/office/drawing/2014/main" id="{E968DBE3-E3D0-4218-A2C6-CEB7E5385187}"/>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cross-device synchronization.</a:t>
            </a:r>
          </a:p>
        </p:txBody>
      </p:sp>
      <p:sp>
        <p:nvSpPr>
          <p:cNvPr id="11" name="text-10">
            <a:extLst xmlns:a="http://schemas.openxmlformats.org/drawingml/2006/main">
              <a:ext uri="{FF2B5EF4-FFF2-40B4-BE49-F238E27FC236}">
                <a16:creationId xmlns:a16="http://schemas.microsoft.com/office/drawing/2014/main" id="{27D8102F-065D-49D7-BE91-7BD09D1B49E7}"/>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Clearing site data removes saved content.</a:t>
            </a:r>
          </a:p>
        </p:txBody>
      </p:sp>
      <p:sp>
        <p:nvSpPr>
          <p:cNvPr id="12" name="text-11">
            <a:extLst xmlns:a="http://schemas.openxmlformats.org/drawingml/2006/main">
              <a:ext uri="{FF2B5EF4-FFF2-40B4-BE49-F238E27FC236}">
                <a16:creationId xmlns:a16="http://schemas.microsoft.com/office/drawing/2014/main" id="{52E82CF6-CB0C-48F6-9E5A-A82C1872A5FB}"/>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JSON export is available.</a:t>
            </a:r>
          </a:p>
        </p:txBody>
      </p:sp>
      <p:sp>
        <p:nvSpPr>
          <p:cNvPr id="13" name="text-12">
            <a:extLst xmlns:a="http://schemas.openxmlformats.org/drawingml/2006/main">
              <a:ext uri="{FF2B5EF4-FFF2-40B4-BE49-F238E27FC236}">
                <a16:creationId xmlns:a16="http://schemas.microsoft.com/office/drawing/2014/main" id="{3A3B0446-4957-47BC-8835-347231C415A8}"/>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An import screen and full review history are not included.</a:t>
            </a:r>
          </a:p>
        </p:txBody>
      </p:sp>
      <p:sp>
        <p:nvSpPr>
          <p:cNvPr id="14" name="text-13">
            <a:extLst xmlns:a="http://schemas.openxmlformats.org/drawingml/2006/main">
              <a:ext uri="{FF2B5EF4-FFF2-40B4-BE49-F238E27FC236}">
                <a16:creationId xmlns:a16="http://schemas.microsoft.com/office/drawing/2014/main" id="{D6864D91-DE00-4404-8DBB-A253ECC5FCA6}"/>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Storage key: neuroquest-palace. localStorage is browser storage, not a backend database.</a:t>
            </a:r>
          </a:p>
        </p:txBody>
      </p:sp>
    </p:spTree>
    <p:extLst>
      <p:ext uri="{BB962C8B-B14F-4D97-AF65-F5344CB8AC3E}">
        <p14:creationId xmlns:p14="http://schemas.microsoft.com/office/powerpoint/2010/main" val="260081324"/>
      </p:ext>
    </p:extLst>
  </p:cSld>
</p:sld>
</file>

<file path=ppt/slides/slide15.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06C7D5BB-3879-4BCB-ABAE-E187C1861480}"/>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Backend: current scope and future plan</a:t>
            </a:r>
          </a:p>
        </p:txBody>
      </p:sp>
      <p:sp>
        <p:nvSpPr>
          <p:cNvPr id="2" name="text-1">
            <a:extLst xmlns:a="http://schemas.openxmlformats.org/drawingml/2006/main">
              <a:ext uri="{FF2B5EF4-FFF2-40B4-BE49-F238E27FC236}">
                <a16:creationId xmlns:a16="http://schemas.microsoft.com/office/drawing/2014/main" id="{07102341-6074-4F5E-99E2-33F3D295ED3C}"/>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16F43C59-6D33-46C6-832A-B2708922F870}"/>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01A2977A-6DB5-4D61-B339-6AB09AA6EA60}"/>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Current implementation</a:t>
            </a:r>
          </a:p>
        </p:txBody>
      </p:sp>
      <p:sp>
        <p:nvSpPr>
          <p:cNvPr id="5" name="text-4">
            <a:extLst xmlns:a="http://schemas.openxmlformats.org/drawingml/2006/main">
              <a:ext uri="{FF2B5EF4-FFF2-40B4-BE49-F238E27FC236}">
                <a16:creationId xmlns:a16="http://schemas.microsoft.com/office/drawing/2014/main" id="{B9EB1A77-3E14-44CC-ACB3-23091B54267C}"/>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Next.js serves the built application.</a:t>
            </a:r>
          </a:p>
        </p:txBody>
      </p:sp>
      <p:sp>
        <p:nvSpPr>
          <p:cNvPr id="6" name="text-5">
            <a:extLst xmlns:a="http://schemas.openxmlformats.org/drawingml/2006/main">
              <a:ext uri="{FF2B5EF4-FFF2-40B4-BE49-F238E27FC236}">
                <a16:creationId xmlns:a16="http://schemas.microsoft.com/office/drawing/2014/main" id="{D6A3E246-8A31-44B3-95B1-1852944B1142}"/>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Study logic runs in the browser.</a:t>
            </a:r>
          </a:p>
        </p:txBody>
      </p:sp>
      <p:sp>
        <p:nvSpPr>
          <p:cNvPr id="7" name="text-6">
            <a:extLst xmlns:a="http://schemas.openxmlformats.org/drawingml/2006/main">
              <a:ext uri="{FF2B5EF4-FFF2-40B4-BE49-F238E27FC236}">
                <a16:creationId xmlns:a16="http://schemas.microsoft.com/office/drawing/2014/main" id="{5763A9E9-7102-4C19-B388-FCBB6EEF7362}"/>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application API or server database.</a:t>
            </a:r>
          </a:p>
        </p:txBody>
      </p:sp>
      <p:sp>
        <p:nvSpPr>
          <p:cNvPr id="8" name="text-7">
            <a:extLst xmlns:a="http://schemas.openxmlformats.org/drawingml/2006/main">
              <a:ext uri="{FF2B5EF4-FFF2-40B4-BE49-F238E27FC236}">
                <a16:creationId xmlns:a16="http://schemas.microsoft.com/office/drawing/2014/main" id="{22648A78-ACCE-4EB5-A1FF-9534BBBDDD75}"/>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login, accounts, or shared classroom data.</a:t>
            </a:r>
          </a:p>
        </p:txBody>
      </p:sp>
      <p:sp>
        <p:nvSpPr>
          <p:cNvPr id="9" name="text-8">
            <a:extLst xmlns:a="http://schemas.openxmlformats.org/drawingml/2006/main">
              <a:ext uri="{FF2B5EF4-FFF2-40B4-BE49-F238E27FC236}">
                <a16:creationId xmlns:a16="http://schemas.microsoft.com/office/drawing/2014/main" id="{BDD27160-272F-40A5-9BF9-94EF9C6768E7}"/>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Proposed extension</a:t>
            </a:r>
          </a:p>
        </p:txBody>
      </p:sp>
      <p:sp>
        <p:nvSpPr>
          <p:cNvPr id="10" name="text-9">
            <a:extLst xmlns:a="http://schemas.openxmlformats.org/drawingml/2006/main">
              <a:ext uri="{FF2B5EF4-FFF2-40B4-BE49-F238E27FC236}">
                <a16:creationId xmlns:a16="http://schemas.microsoft.com/office/drawing/2014/main" id="{F4937CB9-54AC-4E6B-A593-2CFA6A5F4F29}"/>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Authenticated API for rooms and anchors.</a:t>
            </a:r>
          </a:p>
        </p:txBody>
      </p:sp>
      <p:sp>
        <p:nvSpPr>
          <p:cNvPr id="11" name="text-10">
            <a:extLst xmlns:a="http://schemas.openxmlformats.org/drawingml/2006/main">
              <a:ext uri="{FF2B5EF4-FFF2-40B4-BE49-F238E27FC236}">
                <a16:creationId xmlns:a16="http://schemas.microsoft.com/office/drawing/2014/main" id="{DCCB6F79-1FEF-4ECA-AD8D-E3F34616C0B6}"/>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Database tables for users and review events.</a:t>
            </a:r>
          </a:p>
        </p:txBody>
      </p:sp>
      <p:sp>
        <p:nvSpPr>
          <p:cNvPr id="12" name="text-11">
            <a:extLst xmlns:a="http://schemas.openxmlformats.org/drawingml/2006/main">
              <a:ext uri="{FF2B5EF4-FFF2-40B4-BE49-F238E27FC236}">
                <a16:creationId xmlns:a16="http://schemas.microsoft.com/office/drawing/2014/main" id="{6B35244E-DDF3-4DA2-94B7-F20465E45F61}"/>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Ownership checks and controlled sharing.</a:t>
            </a:r>
          </a:p>
        </p:txBody>
      </p:sp>
      <p:sp>
        <p:nvSpPr>
          <p:cNvPr id="13" name="text-12">
            <a:extLst xmlns:a="http://schemas.openxmlformats.org/drawingml/2006/main">
              <a:ext uri="{FF2B5EF4-FFF2-40B4-BE49-F238E27FC236}">
                <a16:creationId xmlns:a16="http://schemas.microsoft.com/office/drawing/2014/main" id="{B7C59C64-A509-4770-B523-CE1326BE9885}"/>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Backup, synchronization, and conflict handling.</a:t>
            </a:r>
          </a:p>
        </p:txBody>
      </p:sp>
      <p:sp>
        <p:nvSpPr>
          <p:cNvPr id="14" name="text-13">
            <a:extLst xmlns:a="http://schemas.openxmlformats.org/drawingml/2006/main">
              <a:ext uri="{FF2B5EF4-FFF2-40B4-BE49-F238E27FC236}">
                <a16:creationId xmlns:a16="http://schemas.microsoft.com/office/drawing/2014/main" id="{C3F60952-929F-4673-83EC-4BC18E1CA288}"/>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A future option is Next.js Route Handlers with PostgreSQL. This is a proposal, not implemented functionality.</a:t>
            </a:r>
          </a:p>
        </p:txBody>
      </p:sp>
    </p:spTree>
    <p:extLst>
      <p:ext uri="{BB962C8B-B14F-4D97-AF65-F5344CB8AC3E}">
        <p14:creationId xmlns:p14="http://schemas.microsoft.com/office/powerpoint/2010/main" val="1807460203"/>
      </p:ext>
    </p:extLst>
  </p:cSld>
</p:sld>
</file>

<file path=ppt/slides/slide16.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D6E00745-3F98-429E-B418-1D935DF86F40}"/>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How the website was built</a:t>
            </a:r>
          </a:p>
        </p:txBody>
      </p:sp>
      <p:sp>
        <p:nvSpPr>
          <p:cNvPr id="2" name="text-1">
            <a:extLst xmlns:a="http://schemas.openxmlformats.org/drawingml/2006/main">
              <a:ext uri="{FF2B5EF4-FFF2-40B4-BE49-F238E27FC236}">
                <a16:creationId xmlns:a16="http://schemas.microsoft.com/office/drawing/2014/main" id="{F80C16B7-A713-4C8C-89F0-E9C5F838E134}"/>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2A8DB91E-EBD7-4FE3-94BA-E5296F30978C}"/>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16</a:t>
            </a:r>
          </a:p>
        </p:txBody>
      </p:sp>
      <p:sp>
        <p:nvSpPr>
          <p:cNvPr id="4" name="text-3">
            <a:extLst xmlns:a="http://schemas.openxmlformats.org/drawingml/2006/main">
              <a:ext uri="{FF2B5EF4-FFF2-40B4-BE49-F238E27FC236}">
                <a16:creationId xmlns:a16="http://schemas.microsoft.com/office/drawing/2014/main" id="{1339EEFB-126A-41D0-9116-6FFFCF0F2C01}"/>
              </a:ext>
            </a:extLst>
          </p:cNvPr>
          <p:cNvSpPr>
            <a:spLocks xmlns:a="http://schemas.openxmlformats.org/drawingml/2006/main" noGrp="1"/>
          </p:cNvSpPr>
          <p:nvPr/>
        </p:nvSpPr>
        <p:spPr>
          <a:xfrm xmlns:a="http://schemas.openxmlformats.org/drawingml/2006/main">
            <a:off x="685800" y="16954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4B346819-795B-4ACC-8337-5DA9E7D228EA}"/>
              </a:ext>
            </a:extLst>
          </p:cNvPr>
          <p:cNvSpPr>
            <a:spLocks xmlns:a="http://schemas.openxmlformats.org/drawingml/2006/main" noGrp="1"/>
          </p:cNvSpPr>
          <p:nvPr/>
        </p:nvSpPr>
        <p:spPr>
          <a:xfrm xmlns:a="http://schemas.openxmlformats.org/drawingml/2006/main">
            <a:off x="1495425" y="16954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Model the learning data</a:t>
            </a:r>
          </a:p>
        </p:txBody>
      </p:sp>
      <p:sp>
        <p:nvSpPr>
          <p:cNvPr id="6" name="text-5">
            <a:extLst xmlns:a="http://schemas.openxmlformats.org/drawingml/2006/main">
              <a:ext uri="{FF2B5EF4-FFF2-40B4-BE49-F238E27FC236}">
                <a16:creationId xmlns:a16="http://schemas.microsoft.com/office/drawing/2014/main" id="{BA74BA0F-07C4-413B-A52A-C226A4346641}"/>
              </a:ext>
            </a:extLst>
          </p:cNvPr>
          <p:cNvSpPr>
            <a:spLocks xmlns:a="http://schemas.openxmlformats.org/drawingml/2006/main" noGrp="1"/>
          </p:cNvSpPr>
          <p:nvPr/>
        </p:nvSpPr>
        <p:spPr>
          <a:xfrm xmlns:a="http://schemas.openxmlformats.org/drawingml/2006/main">
            <a:off x="5486400" y="16954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Define rooms, anchors, modes, and retention types.</a:t>
            </a:r>
          </a:p>
        </p:txBody>
      </p:sp>
      <p:sp>
        <p:nvSpPr>
          <p:cNvPr id="7" name="text-6">
            <a:extLst xmlns:a="http://schemas.openxmlformats.org/drawingml/2006/main">
              <a:ext uri="{FF2B5EF4-FFF2-40B4-BE49-F238E27FC236}">
                <a16:creationId xmlns:a16="http://schemas.microsoft.com/office/drawing/2014/main" id="{6B1A112F-649C-4A96-AFAE-087A30529CB4}"/>
              </a:ext>
            </a:extLst>
          </p:cNvPr>
          <p:cNvSpPr>
            <a:spLocks xmlns:a="http://schemas.openxmlformats.org/drawingml/2006/main" noGrp="1"/>
          </p:cNvSpPr>
          <p:nvPr/>
        </p:nvSpPr>
        <p:spPr>
          <a:xfrm xmlns:a="http://schemas.openxmlformats.org/drawingml/2006/main">
            <a:off x="685800" y="24765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731C01E0-9E5A-49F5-93D6-7FAEB3F2E4D6}"/>
              </a:ext>
            </a:extLst>
          </p:cNvPr>
          <p:cNvSpPr>
            <a:spLocks xmlns:a="http://schemas.openxmlformats.org/drawingml/2006/main" noGrp="1"/>
          </p:cNvSpPr>
          <p:nvPr/>
        </p:nvSpPr>
        <p:spPr>
          <a:xfrm xmlns:a="http://schemas.openxmlformats.org/drawingml/2006/main">
            <a:off x="1495425" y="24765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Build the workspace</a:t>
            </a:r>
          </a:p>
        </p:txBody>
      </p:sp>
      <p:sp>
        <p:nvSpPr>
          <p:cNvPr id="9" name="text-8">
            <a:extLst xmlns:a="http://schemas.openxmlformats.org/drawingml/2006/main">
              <a:ext uri="{FF2B5EF4-FFF2-40B4-BE49-F238E27FC236}">
                <a16:creationId xmlns:a16="http://schemas.microsoft.com/office/drawing/2014/main" id="{AF036724-5662-4C21-A783-48070039D77A}"/>
              </a:ext>
            </a:extLst>
          </p:cNvPr>
          <p:cNvSpPr>
            <a:spLocks xmlns:a="http://schemas.openxmlformats.org/drawingml/2006/main" noGrp="1"/>
          </p:cNvSpPr>
          <p:nvPr/>
        </p:nvSpPr>
        <p:spPr>
          <a:xfrm xmlns:a="http://schemas.openxmlformats.org/drawingml/2006/main">
            <a:off x="5486400" y="24765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Create navigation, note forms, drawers, and search.</a:t>
            </a:r>
          </a:p>
        </p:txBody>
      </p:sp>
      <p:sp>
        <p:nvSpPr>
          <p:cNvPr id="10" name="text-9">
            <a:extLst xmlns:a="http://schemas.openxmlformats.org/drawingml/2006/main">
              <a:ext uri="{FF2B5EF4-FFF2-40B4-BE49-F238E27FC236}">
                <a16:creationId xmlns:a16="http://schemas.microsoft.com/office/drawing/2014/main" id="{7E09E0A9-4190-4630-B21B-7D8B8CB9C659}"/>
              </a:ext>
            </a:extLst>
          </p:cNvPr>
          <p:cNvSpPr>
            <a:spLocks xmlns:a="http://schemas.openxmlformats.org/drawingml/2006/main" noGrp="1"/>
          </p:cNvSpPr>
          <p:nvPr/>
        </p:nvSpPr>
        <p:spPr>
          <a:xfrm xmlns:a="http://schemas.openxmlformats.org/drawingml/2006/main">
            <a:off x="685800" y="32575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376CEFF5-660E-400A-98E8-F6D505C75E62}"/>
              </a:ext>
            </a:extLst>
          </p:cNvPr>
          <p:cNvSpPr>
            <a:spLocks xmlns:a="http://schemas.openxmlformats.org/drawingml/2006/main" noGrp="1"/>
          </p:cNvSpPr>
          <p:nvPr/>
        </p:nvSpPr>
        <p:spPr>
          <a:xfrm xmlns:a="http://schemas.openxmlformats.org/drawingml/2006/main">
            <a:off x="1495425" y="32575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Add the spatial scene</a:t>
            </a:r>
          </a:p>
        </p:txBody>
      </p:sp>
      <p:sp>
        <p:nvSpPr>
          <p:cNvPr id="12" name="text-11">
            <a:extLst xmlns:a="http://schemas.openxmlformats.org/drawingml/2006/main">
              <a:ext uri="{FF2B5EF4-FFF2-40B4-BE49-F238E27FC236}">
                <a16:creationId xmlns:a16="http://schemas.microsoft.com/office/drawing/2014/main" id="{D8EAD6BB-E427-446F-9230-78EC64B1A8A9}"/>
              </a:ext>
            </a:extLst>
          </p:cNvPr>
          <p:cNvSpPr>
            <a:spLocks xmlns:a="http://schemas.openxmlformats.org/drawingml/2006/main" noGrp="1"/>
          </p:cNvSpPr>
          <p:nvPr/>
        </p:nvSpPr>
        <p:spPr>
          <a:xfrm xmlns:a="http://schemas.openxmlformats.org/drawingml/2006/main">
            <a:off x="5486400" y="32575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Connect artifacts and camera targets to shared state.</a:t>
            </a:r>
          </a:p>
        </p:txBody>
      </p:sp>
      <p:sp>
        <p:nvSpPr>
          <p:cNvPr id="13" name="text-12">
            <a:extLst xmlns:a="http://schemas.openxmlformats.org/drawingml/2006/main">
              <a:ext uri="{FF2B5EF4-FFF2-40B4-BE49-F238E27FC236}">
                <a16:creationId xmlns:a16="http://schemas.microsoft.com/office/drawing/2014/main" id="{BBE65E66-E61B-45CB-8CE3-72DDF21BEFAB}"/>
              </a:ext>
            </a:extLst>
          </p:cNvPr>
          <p:cNvSpPr>
            <a:spLocks xmlns:a="http://schemas.openxmlformats.org/drawingml/2006/main" noGrp="1"/>
          </p:cNvSpPr>
          <p:nvPr/>
        </p:nvSpPr>
        <p:spPr>
          <a:xfrm xmlns:a="http://schemas.openxmlformats.org/drawingml/2006/main">
            <a:off x="685800" y="40386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CE38C776-D2B7-428E-B004-364E904F883B}"/>
              </a:ext>
            </a:extLst>
          </p:cNvPr>
          <p:cNvSpPr>
            <a:spLocks xmlns:a="http://schemas.openxmlformats.org/drawingml/2006/main" noGrp="1"/>
          </p:cNvSpPr>
          <p:nvPr/>
        </p:nvSpPr>
        <p:spPr>
          <a:xfrm xmlns:a="http://schemas.openxmlformats.org/drawingml/2006/main">
            <a:off x="1495425" y="40386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Implement recall and saving</a:t>
            </a:r>
          </a:p>
        </p:txBody>
      </p:sp>
      <p:sp>
        <p:nvSpPr>
          <p:cNvPr id="15" name="text-14">
            <a:extLst xmlns:a="http://schemas.openxmlformats.org/drawingml/2006/main">
              <a:ext uri="{FF2B5EF4-FFF2-40B4-BE49-F238E27FC236}">
                <a16:creationId xmlns:a16="http://schemas.microsoft.com/office/drawing/2014/main" id="{564DADD6-3556-4C42-A465-77951D0F0DD8}"/>
              </a:ext>
            </a:extLst>
          </p:cNvPr>
          <p:cNvSpPr>
            <a:spLocks xmlns:a="http://schemas.openxmlformats.org/drawingml/2006/main" noGrp="1"/>
          </p:cNvSpPr>
          <p:nvPr/>
        </p:nvSpPr>
        <p:spPr>
          <a:xfrm xmlns:a="http://schemas.openxmlformats.org/drawingml/2006/main">
            <a:off x="5486400" y="40386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Validate ratings, persist data, and migrate older records.</a:t>
            </a:r>
          </a:p>
        </p:txBody>
      </p:sp>
      <p:sp>
        <p:nvSpPr>
          <p:cNvPr id="16" name="text-15">
            <a:extLst xmlns:a="http://schemas.openxmlformats.org/drawingml/2006/main">
              <a:ext uri="{FF2B5EF4-FFF2-40B4-BE49-F238E27FC236}">
                <a16:creationId xmlns:a16="http://schemas.microsoft.com/office/drawing/2014/main" id="{AC594570-FB18-4A82-AD27-937C33CE1C26}"/>
              </a:ext>
            </a:extLst>
          </p:cNvPr>
          <p:cNvSpPr>
            <a:spLocks xmlns:a="http://schemas.openxmlformats.org/drawingml/2006/main" noGrp="1"/>
          </p:cNvSpPr>
          <p:nvPr/>
        </p:nvSpPr>
        <p:spPr>
          <a:xfrm xmlns:a="http://schemas.openxmlformats.org/drawingml/2006/main">
            <a:off x="685800" y="48196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05</a:t>
            </a:r>
          </a:p>
        </p:txBody>
      </p:sp>
      <p:sp>
        <p:nvSpPr>
          <p:cNvPr id="17" name="text-16">
            <a:extLst xmlns:a="http://schemas.openxmlformats.org/drawingml/2006/main">
              <a:ext uri="{FF2B5EF4-FFF2-40B4-BE49-F238E27FC236}">
                <a16:creationId xmlns:a16="http://schemas.microsoft.com/office/drawing/2014/main" id="{26F39582-2191-48D8-8535-05ED73E5DED4}"/>
              </a:ext>
            </a:extLst>
          </p:cNvPr>
          <p:cNvSpPr>
            <a:spLocks xmlns:a="http://schemas.openxmlformats.org/drawingml/2006/main" noGrp="1"/>
          </p:cNvSpPr>
          <p:nvPr/>
        </p:nvSpPr>
        <p:spPr>
          <a:xfrm xmlns:a="http://schemas.openxmlformats.org/drawingml/2006/main">
            <a:off x="1495425" y="48196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Verify and package</a:t>
            </a:r>
          </a:p>
        </p:txBody>
      </p:sp>
      <p:sp>
        <p:nvSpPr>
          <p:cNvPr id="18" name="text-17">
            <a:extLst xmlns:a="http://schemas.openxmlformats.org/drawingml/2006/main">
              <a:ext uri="{FF2B5EF4-FFF2-40B4-BE49-F238E27FC236}">
                <a16:creationId xmlns:a16="http://schemas.microsoft.com/office/drawing/2014/main" id="{4637EE72-B23B-49C9-ABB0-FEE79F02FBE7}"/>
              </a:ext>
            </a:extLst>
          </p:cNvPr>
          <p:cNvSpPr>
            <a:spLocks xmlns:a="http://schemas.openxmlformats.org/drawingml/2006/main" noGrp="1"/>
          </p:cNvSpPr>
          <p:nvPr/>
        </p:nvSpPr>
        <p:spPr>
          <a:xfrm xmlns:a="http://schemas.openxmlformats.org/drawingml/2006/main">
            <a:off x="5486400" y="48196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Run tests and checks, build, and serve the application.</a:t>
            </a:r>
          </a:p>
        </p:txBody>
      </p:sp>
      <p:sp>
        <p:nvSpPr>
          <p:cNvPr id="19" name="text-18">
            <a:extLst xmlns:a="http://schemas.openxmlformats.org/drawingml/2006/main">
              <a:ext uri="{FF2B5EF4-FFF2-40B4-BE49-F238E27FC236}">
                <a16:creationId xmlns:a16="http://schemas.microsoft.com/office/drawing/2014/main" id="{BF785D35-0E69-481D-B731-D2E7E045DBD0}"/>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Local setup: npm ci, then npm run dev. Production: npm run build, then npm start.</a:t>
            </a:r>
          </a:p>
        </p:txBody>
      </p:sp>
    </p:spTree>
    <p:extLst>
      <p:ext uri="{BB962C8B-B14F-4D97-AF65-F5344CB8AC3E}">
        <p14:creationId xmlns:p14="http://schemas.microsoft.com/office/powerpoint/2010/main" val="1355413878"/>
      </p:ext>
    </p:extLst>
  </p:cSld>
</p:sld>
</file>

<file path=ppt/slides/slide17.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B0181DE8-C3C5-4905-9B4E-19343EC9D4E4}"/>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Quality, accessibility, and testing</a:t>
            </a:r>
          </a:p>
        </p:txBody>
      </p:sp>
      <p:sp>
        <p:nvSpPr>
          <p:cNvPr id="2" name="text-1">
            <a:extLst xmlns:a="http://schemas.openxmlformats.org/drawingml/2006/main">
              <a:ext uri="{FF2B5EF4-FFF2-40B4-BE49-F238E27FC236}">
                <a16:creationId xmlns:a16="http://schemas.microsoft.com/office/drawing/2014/main" id="{E386C027-FA72-4BA0-BF70-6967BB24B06A}"/>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8E4D135B-8ACC-480F-AD6A-A407A4760737}"/>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63F9FE2A-C305-458B-AE8A-2E03EE1C01B4}"/>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Engineering checks</a:t>
            </a:r>
          </a:p>
        </p:txBody>
      </p:sp>
      <p:sp>
        <p:nvSpPr>
          <p:cNvPr id="5" name="text-4">
            <a:extLst xmlns:a="http://schemas.openxmlformats.org/drawingml/2006/main">
              <a:ext uri="{FF2B5EF4-FFF2-40B4-BE49-F238E27FC236}">
                <a16:creationId xmlns:a16="http://schemas.microsoft.com/office/drawing/2014/main" id="{72123D3C-C062-4D69-BDC4-4E31D8DF4D2B}"/>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19 automated store tests.</a:t>
            </a:r>
          </a:p>
        </p:txBody>
      </p:sp>
      <p:sp>
        <p:nvSpPr>
          <p:cNvPr id="6" name="text-5">
            <a:extLst xmlns:a="http://schemas.openxmlformats.org/drawingml/2006/main">
              <a:ext uri="{FF2B5EF4-FFF2-40B4-BE49-F238E27FC236}">
                <a16:creationId xmlns:a16="http://schemas.microsoft.com/office/drawing/2014/main" id="{4D7277BC-D82D-474E-ADDE-D18DFD465B43}"/>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Validation of names, positions, and saved data.</a:t>
            </a:r>
          </a:p>
        </p:txBody>
      </p:sp>
      <p:sp>
        <p:nvSpPr>
          <p:cNvPr id="7" name="text-6">
            <a:extLst xmlns:a="http://schemas.openxmlformats.org/drawingml/2006/main">
              <a:ext uri="{FF2B5EF4-FFF2-40B4-BE49-F238E27FC236}">
                <a16:creationId xmlns:a16="http://schemas.microsoft.com/office/drawing/2014/main" id="{5F293FEF-124F-496E-8020-86EC3DA0422F}"/>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Production build and lint checks passed.</a:t>
            </a:r>
          </a:p>
        </p:txBody>
      </p:sp>
      <p:sp>
        <p:nvSpPr>
          <p:cNvPr id="8" name="text-7">
            <a:extLst xmlns:a="http://schemas.openxmlformats.org/drawingml/2006/main">
              <a:ext uri="{FF2B5EF4-FFF2-40B4-BE49-F238E27FC236}">
                <a16:creationId xmlns:a16="http://schemas.microsoft.com/office/drawing/2014/main" id="{A1F8F2C0-9DD4-4468-9068-15CD9FFCCB85}"/>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Browser checks for custom rooms and persistence.</a:t>
            </a:r>
          </a:p>
        </p:txBody>
      </p:sp>
      <p:sp>
        <p:nvSpPr>
          <p:cNvPr id="9" name="text-8">
            <a:extLst xmlns:a="http://schemas.openxmlformats.org/drawingml/2006/main">
              <a:ext uri="{FF2B5EF4-FFF2-40B4-BE49-F238E27FC236}">
                <a16:creationId xmlns:a16="http://schemas.microsoft.com/office/drawing/2014/main" id="{0F8D5107-9C28-4C48-9209-A6B2E44CE5D6}"/>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Usability support</a:t>
            </a:r>
          </a:p>
        </p:txBody>
      </p:sp>
      <p:sp>
        <p:nvSpPr>
          <p:cNvPr id="10" name="text-9">
            <a:extLst xmlns:a="http://schemas.openxmlformats.org/drawingml/2006/main">
              <a:ext uri="{FF2B5EF4-FFF2-40B4-BE49-F238E27FC236}">
                <a16:creationId xmlns:a16="http://schemas.microsoft.com/office/drawing/2014/main" id="{CAC4B654-76A0-49B1-9F2A-C524DB8D1E4A}"/>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Responsive navigation and forms.</a:t>
            </a:r>
          </a:p>
        </p:txBody>
      </p:sp>
      <p:sp>
        <p:nvSpPr>
          <p:cNvPr id="11" name="text-10">
            <a:extLst xmlns:a="http://schemas.openxmlformats.org/drawingml/2006/main">
              <a:ext uri="{FF2B5EF4-FFF2-40B4-BE49-F238E27FC236}">
                <a16:creationId xmlns:a16="http://schemas.microsoft.com/office/drawing/2014/main" id="{4ACEBB11-59B8-4A59-9B27-7C62FC331B2D}"/>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Keyboard focus handling and Escape to close.</a:t>
            </a:r>
          </a:p>
        </p:txBody>
      </p:sp>
      <p:sp>
        <p:nvSpPr>
          <p:cNvPr id="12" name="text-11">
            <a:extLst xmlns:a="http://schemas.openxmlformats.org/drawingml/2006/main">
              <a:ext uri="{FF2B5EF4-FFF2-40B4-BE49-F238E27FC236}">
                <a16:creationId xmlns:a16="http://schemas.microsoft.com/office/drawing/2014/main" id="{A6FBB90F-B670-43B0-A54A-7E1FB012D8AE}"/>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Reduced-motion and effects controls.</a:t>
            </a:r>
          </a:p>
        </p:txBody>
      </p:sp>
      <p:sp>
        <p:nvSpPr>
          <p:cNvPr id="13" name="text-12">
            <a:extLst xmlns:a="http://schemas.openxmlformats.org/drawingml/2006/main">
              <a:ext uri="{FF2B5EF4-FFF2-40B4-BE49-F238E27FC236}">
                <a16:creationId xmlns:a16="http://schemas.microsoft.com/office/drawing/2014/main" id="{0B2E0B28-8979-4232-BDE7-10B5C64DA93B}"/>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HTML study fallback when WebGL is unavailable.</a:t>
            </a:r>
          </a:p>
        </p:txBody>
      </p:sp>
      <p:sp>
        <p:nvSpPr>
          <p:cNvPr id="14" name="text-13">
            <a:extLst xmlns:a="http://schemas.openxmlformats.org/drawingml/2006/main">
              <a:ext uri="{FF2B5EF4-FFF2-40B4-BE49-F238E27FC236}">
                <a16:creationId xmlns:a16="http://schemas.microsoft.com/office/drawing/2014/main" id="{CCC4135C-4524-4A0F-B671-EDFB7CEE66DB}"/>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Functional checks do not establish learning outcomes or guarantee performance on every device.</a:t>
            </a:r>
          </a:p>
        </p:txBody>
      </p:sp>
    </p:spTree>
    <p:extLst>
      <p:ext uri="{BB962C8B-B14F-4D97-AF65-F5344CB8AC3E}">
        <p14:creationId xmlns:p14="http://schemas.microsoft.com/office/powerpoint/2010/main" val="786071286"/>
      </p:ext>
    </p:extLst>
  </p:cSld>
</p:sld>
</file>

<file path=ppt/slides/slide18.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BAB862F-8E58-4E95-86B3-14EB240D7FD7}"/>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Limitations and next steps</a:t>
            </a:r>
          </a:p>
        </p:txBody>
      </p:sp>
      <p:sp>
        <p:nvSpPr>
          <p:cNvPr id="2" name="text-1">
            <a:extLst xmlns:a="http://schemas.openxmlformats.org/drawingml/2006/main">
              <a:ext uri="{FF2B5EF4-FFF2-40B4-BE49-F238E27FC236}">
                <a16:creationId xmlns:a16="http://schemas.microsoft.com/office/drawing/2014/main" id="{12FF6646-C90E-44BD-97D9-BAA127C76061}"/>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F168C1E3-53DA-4735-A596-A7ACD3639B31}"/>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18</a:t>
            </a:r>
          </a:p>
        </p:txBody>
      </p:sp>
      <p:sp>
        <p:nvSpPr>
          <p:cNvPr id="4" name="text-3">
            <a:extLst xmlns:a="http://schemas.openxmlformats.org/drawingml/2006/main">
              <a:ext uri="{FF2B5EF4-FFF2-40B4-BE49-F238E27FC236}">
                <a16:creationId xmlns:a16="http://schemas.microsoft.com/office/drawing/2014/main" id="{0012040B-EE46-4C3D-9F22-1745E4A34270}"/>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Current limitations</a:t>
            </a:r>
          </a:p>
        </p:txBody>
      </p:sp>
      <p:sp>
        <p:nvSpPr>
          <p:cNvPr id="5" name="text-4">
            <a:extLst xmlns:a="http://schemas.openxmlformats.org/drawingml/2006/main">
              <a:ext uri="{FF2B5EF4-FFF2-40B4-BE49-F238E27FC236}">
                <a16:creationId xmlns:a16="http://schemas.microsoft.com/office/drawing/2014/main" id="{939AACDC-AD8D-4770-A4A3-770DCE1445F0}"/>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Data stays on one browser and origin.</a:t>
            </a:r>
          </a:p>
        </p:txBody>
      </p:sp>
      <p:sp>
        <p:nvSpPr>
          <p:cNvPr id="6" name="text-5">
            <a:extLst xmlns:a="http://schemas.openxmlformats.org/drawingml/2006/main">
              <a:ext uri="{FF2B5EF4-FFF2-40B4-BE49-F238E27FC236}">
                <a16:creationId xmlns:a16="http://schemas.microsoft.com/office/drawing/2014/main" id="{83482FA3-5A5A-4B96-A3E8-761A02E86F52}"/>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Ratings depend on honest self-assessment.</a:t>
            </a:r>
          </a:p>
        </p:txBody>
      </p:sp>
      <p:sp>
        <p:nvSpPr>
          <p:cNvPr id="7" name="text-6">
            <a:extLst xmlns:a="http://schemas.openxmlformats.org/drawingml/2006/main">
              <a:ext uri="{FF2B5EF4-FFF2-40B4-BE49-F238E27FC236}">
                <a16:creationId xmlns:a16="http://schemas.microsoft.com/office/drawing/2014/main" id="{6C5DFCEF-A1D1-4348-A967-BA29A260020C}"/>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3D performance depends on the device.</a:t>
            </a:r>
          </a:p>
        </p:txBody>
      </p:sp>
      <p:sp>
        <p:nvSpPr>
          <p:cNvPr id="8" name="text-7">
            <a:extLst xmlns:a="http://schemas.openxmlformats.org/drawingml/2006/main">
              <a:ext uri="{FF2B5EF4-FFF2-40B4-BE49-F238E27FC236}">
                <a16:creationId xmlns:a16="http://schemas.microsoft.com/office/drawing/2014/main" id="{562E1B93-6023-4B55-9FBE-4EE320CD9A07}"/>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automatic revision schedule or class dashboard.</a:t>
            </a:r>
          </a:p>
        </p:txBody>
      </p:sp>
      <p:sp>
        <p:nvSpPr>
          <p:cNvPr id="9" name="text-8">
            <a:extLst xmlns:a="http://schemas.openxmlformats.org/drawingml/2006/main">
              <a:ext uri="{FF2B5EF4-FFF2-40B4-BE49-F238E27FC236}">
                <a16:creationId xmlns:a16="http://schemas.microsoft.com/office/drawing/2014/main" id="{C4CCE8A8-35A1-45A6-A712-4D85B9BAB4DD}"/>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Future development</a:t>
            </a:r>
          </a:p>
        </p:txBody>
      </p:sp>
      <p:sp>
        <p:nvSpPr>
          <p:cNvPr id="10" name="text-9">
            <a:extLst xmlns:a="http://schemas.openxmlformats.org/drawingml/2006/main">
              <a:ext uri="{FF2B5EF4-FFF2-40B4-BE49-F238E27FC236}">
                <a16:creationId xmlns:a16="http://schemas.microsoft.com/office/drawing/2014/main" id="{460AF715-C93C-425D-B8F5-D9A6A8483455}"/>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Accounts, cloud storage, and restore/import.</a:t>
            </a:r>
          </a:p>
        </p:txBody>
      </p:sp>
      <p:sp>
        <p:nvSpPr>
          <p:cNvPr id="11" name="text-10">
            <a:extLst xmlns:a="http://schemas.openxmlformats.org/drawingml/2006/main">
              <a:ext uri="{FF2B5EF4-FFF2-40B4-BE49-F238E27FC236}">
                <a16:creationId xmlns:a16="http://schemas.microsoft.com/office/drawing/2014/main" id="{0A921A9F-E447-4773-87EA-065FE5EA0BC1}"/>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Spaced revision and fuller review history.</a:t>
            </a:r>
          </a:p>
        </p:txBody>
      </p:sp>
      <p:sp>
        <p:nvSpPr>
          <p:cNvPr id="12" name="text-11">
            <a:extLst xmlns:a="http://schemas.openxmlformats.org/drawingml/2006/main">
              <a:ext uri="{FF2B5EF4-FFF2-40B4-BE49-F238E27FC236}">
                <a16:creationId xmlns:a16="http://schemas.microsoft.com/office/drawing/2014/main" id="{AA75100C-8EFA-4D53-86B9-38B62D4EBC69}"/>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Lecturer templates and permission-based sharing.</a:t>
            </a:r>
          </a:p>
        </p:txBody>
      </p:sp>
      <p:sp>
        <p:nvSpPr>
          <p:cNvPr id="13" name="text-12">
            <a:extLst xmlns:a="http://schemas.openxmlformats.org/drawingml/2006/main">
              <a:ext uri="{FF2B5EF4-FFF2-40B4-BE49-F238E27FC236}">
                <a16:creationId xmlns:a16="http://schemas.microsoft.com/office/drawing/2014/main" id="{0C44F510-83B7-493B-BC61-B06D0C3CFFA9}"/>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classroom study with delayed recall testing.</a:t>
            </a:r>
          </a:p>
        </p:txBody>
      </p:sp>
      <p:sp>
        <p:nvSpPr>
          <p:cNvPr id="14" name="text-13">
            <a:extLst xmlns:a="http://schemas.openxmlformats.org/drawingml/2006/main">
              <a:ext uri="{FF2B5EF4-FFF2-40B4-BE49-F238E27FC236}">
                <a16:creationId xmlns:a16="http://schemas.microsoft.com/office/drawing/2014/main" id="{F0ED036A-F49F-4E18-8703-836422C536B6}"/>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Future work should preserve the simple study flow and the accessible fallback.</a:t>
            </a:r>
          </a:p>
        </p:txBody>
      </p:sp>
    </p:spTree>
    <p:extLst>
      <p:ext uri="{BB962C8B-B14F-4D97-AF65-F5344CB8AC3E}">
        <p14:creationId xmlns:p14="http://schemas.microsoft.com/office/powerpoint/2010/main" val="1216496236"/>
      </p:ext>
    </p:extLst>
  </p:cSld>
</p:sld>
</file>

<file path=ppt/slides/slide19.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5AA51A35-8F90-4529-A024-9D2394F42F24}"/>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Live demonstration</a:t>
            </a:r>
          </a:p>
        </p:txBody>
      </p:sp>
      <p:sp>
        <p:nvSpPr>
          <p:cNvPr id="2" name="text-1">
            <a:extLst xmlns:a="http://schemas.openxmlformats.org/drawingml/2006/main">
              <a:ext uri="{FF2B5EF4-FFF2-40B4-BE49-F238E27FC236}">
                <a16:creationId xmlns:a16="http://schemas.microsoft.com/office/drawing/2014/main" id="{A0F04C3B-9A61-45DE-A3E8-32D2766E48E7}"/>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F7FC15FC-8649-426A-BA67-3A059A89F408}"/>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19</a:t>
            </a:r>
          </a:p>
        </p:txBody>
      </p:sp>
      <p:sp>
        <p:nvSpPr>
          <p:cNvPr id="4" name="text-3">
            <a:extLst xmlns:a="http://schemas.openxmlformats.org/drawingml/2006/main">
              <a:ext uri="{FF2B5EF4-FFF2-40B4-BE49-F238E27FC236}">
                <a16:creationId xmlns:a16="http://schemas.microsoft.com/office/drawing/2014/main" id="{DCAD7913-1A3A-4781-9A03-2D21DBC11C0C}"/>
              </a:ext>
            </a:extLst>
          </p:cNvPr>
          <p:cNvSpPr>
            <a:spLocks xmlns:a="http://schemas.openxmlformats.org/drawingml/2006/main" noGrp="1"/>
          </p:cNvSpPr>
          <p:nvPr/>
        </p:nvSpPr>
        <p:spPr>
          <a:xfrm xmlns:a="http://schemas.openxmlformats.org/drawingml/2006/main">
            <a:off x="685800" y="16954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F68FEE49-74CB-4B1A-B4A7-515F989B8A59}"/>
              </a:ext>
            </a:extLst>
          </p:cNvPr>
          <p:cNvSpPr>
            <a:spLocks xmlns:a="http://schemas.openxmlformats.org/drawingml/2006/main" noGrp="1"/>
          </p:cNvSpPr>
          <p:nvPr/>
        </p:nvSpPr>
        <p:spPr>
          <a:xfrm xmlns:a="http://schemas.openxmlformats.org/drawingml/2006/main">
            <a:off x="1495425" y="16954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Open Computer Science</a:t>
            </a:r>
          </a:p>
        </p:txBody>
      </p:sp>
      <p:sp>
        <p:nvSpPr>
          <p:cNvPr id="6" name="text-5">
            <a:extLst xmlns:a="http://schemas.openxmlformats.org/drawingml/2006/main">
              <a:ext uri="{FF2B5EF4-FFF2-40B4-BE49-F238E27FC236}">
                <a16:creationId xmlns:a16="http://schemas.microsoft.com/office/drawing/2014/main" id="{7E67FE01-CC26-46B6-9340-844FC883038E}"/>
              </a:ext>
            </a:extLst>
          </p:cNvPr>
          <p:cNvSpPr>
            <a:spLocks xmlns:a="http://schemas.openxmlformats.org/drawingml/2006/main" noGrp="1"/>
          </p:cNvSpPr>
          <p:nvPr/>
        </p:nvSpPr>
        <p:spPr>
          <a:xfrm xmlns:a="http://schemas.openxmlformats.org/drawingml/2006/main">
            <a:off x="5486400" y="16954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Select an anchor and explain its connection to a place.</a:t>
            </a:r>
          </a:p>
        </p:txBody>
      </p:sp>
      <p:sp>
        <p:nvSpPr>
          <p:cNvPr id="7" name="text-6">
            <a:extLst xmlns:a="http://schemas.openxmlformats.org/drawingml/2006/main">
              <a:ext uri="{FF2B5EF4-FFF2-40B4-BE49-F238E27FC236}">
                <a16:creationId xmlns:a16="http://schemas.microsoft.com/office/drawing/2014/main" id="{12674668-D50E-48B2-A699-BF2C5C4B4ADE}"/>
              </a:ext>
            </a:extLst>
          </p:cNvPr>
          <p:cNvSpPr>
            <a:spLocks xmlns:a="http://schemas.openxmlformats.org/drawingml/2006/main" noGrp="1"/>
          </p:cNvSpPr>
          <p:nvPr/>
        </p:nvSpPr>
        <p:spPr>
          <a:xfrm xmlns:a="http://schemas.openxmlformats.org/drawingml/2006/main">
            <a:off x="685800" y="24765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1ACDFFE7-C58F-4489-BCC1-055FA45C0D4A}"/>
              </a:ext>
            </a:extLst>
          </p:cNvPr>
          <p:cNvSpPr>
            <a:spLocks xmlns:a="http://schemas.openxmlformats.org/drawingml/2006/main" noGrp="1"/>
          </p:cNvSpPr>
          <p:nvPr/>
        </p:nvSpPr>
        <p:spPr>
          <a:xfrm xmlns:a="http://schemas.openxmlformats.org/drawingml/2006/main">
            <a:off x="1495425" y="24765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Create Mathematics</a:t>
            </a:r>
          </a:p>
        </p:txBody>
      </p:sp>
      <p:sp>
        <p:nvSpPr>
          <p:cNvPr id="9" name="text-8">
            <a:extLst xmlns:a="http://schemas.openxmlformats.org/drawingml/2006/main">
              <a:ext uri="{FF2B5EF4-FFF2-40B4-BE49-F238E27FC236}">
                <a16:creationId xmlns:a16="http://schemas.microsoft.com/office/drawing/2014/main" id="{89B5D972-5B8E-4E1B-9E24-F7FDC5A774F4}"/>
              </a:ext>
            </a:extLst>
          </p:cNvPr>
          <p:cNvSpPr>
            <a:spLocks xmlns:a="http://schemas.openxmlformats.org/drawingml/2006/main" noGrp="1"/>
          </p:cNvSpPr>
          <p:nvPr/>
        </p:nvSpPr>
        <p:spPr>
          <a:xfrm xmlns:a="http://schemas.openxmlformats.org/drawingml/2006/main">
            <a:off x="5486400" y="24765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Choose a name, icon, and color for a new palace.</a:t>
            </a:r>
          </a:p>
        </p:txBody>
      </p:sp>
      <p:sp>
        <p:nvSpPr>
          <p:cNvPr id="10" name="text-9">
            <a:extLst xmlns:a="http://schemas.openxmlformats.org/drawingml/2006/main">
              <a:ext uri="{FF2B5EF4-FFF2-40B4-BE49-F238E27FC236}">
                <a16:creationId xmlns:a16="http://schemas.microsoft.com/office/drawing/2014/main" id="{66873EFE-DD05-441C-9CE7-989C66A53810}"/>
              </a:ext>
            </a:extLst>
          </p:cNvPr>
          <p:cNvSpPr>
            <a:spLocks xmlns:a="http://schemas.openxmlformats.org/drawingml/2006/main" noGrp="1"/>
          </p:cNvSpPr>
          <p:nvPr/>
        </p:nvSpPr>
        <p:spPr>
          <a:xfrm xmlns:a="http://schemas.openxmlformats.org/drawingml/2006/main">
            <a:off x="685800" y="32575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4977E3AD-BD17-4FF8-919B-195F7E7AC089}"/>
              </a:ext>
            </a:extLst>
          </p:cNvPr>
          <p:cNvSpPr>
            <a:spLocks xmlns:a="http://schemas.openxmlformats.org/drawingml/2006/main" noGrp="1"/>
          </p:cNvSpPr>
          <p:nvPr/>
        </p:nvSpPr>
        <p:spPr>
          <a:xfrm xmlns:a="http://schemas.openxmlformats.org/drawingml/2006/main">
            <a:off x="1495425" y="32575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Add one memory</a:t>
            </a:r>
          </a:p>
        </p:txBody>
      </p:sp>
      <p:sp>
        <p:nvSpPr>
          <p:cNvPr id="12" name="text-11">
            <a:extLst xmlns:a="http://schemas.openxmlformats.org/drawingml/2006/main">
              <a:ext uri="{FF2B5EF4-FFF2-40B4-BE49-F238E27FC236}">
                <a16:creationId xmlns:a16="http://schemas.microsoft.com/office/drawing/2014/main" id="{DB4CD6D8-6530-47F9-8765-86A2DCA8CD5E}"/>
              </a:ext>
            </a:extLst>
          </p:cNvPr>
          <p:cNvSpPr>
            <a:spLocks xmlns:a="http://schemas.openxmlformats.org/drawingml/2006/main" noGrp="1"/>
          </p:cNvSpPr>
          <p:nvPr/>
        </p:nvSpPr>
        <p:spPr>
          <a:xfrm xmlns:a="http://schemas.openxmlformats.org/drawingml/2006/main">
            <a:off x="5486400" y="32575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Enter a short note and assign an artifact.</a:t>
            </a:r>
          </a:p>
        </p:txBody>
      </p:sp>
      <p:sp>
        <p:nvSpPr>
          <p:cNvPr id="13" name="text-12">
            <a:extLst xmlns:a="http://schemas.openxmlformats.org/drawingml/2006/main">
              <a:ext uri="{FF2B5EF4-FFF2-40B4-BE49-F238E27FC236}">
                <a16:creationId xmlns:a16="http://schemas.microsoft.com/office/drawing/2014/main" id="{4CF801BA-4049-4372-8D82-910FF844B81C}"/>
              </a:ext>
            </a:extLst>
          </p:cNvPr>
          <p:cNvSpPr>
            <a:spLocks xmlns:a="http://schemas.openxmlformats.org/drawingml/2006/main" noGrp="1"/>
          </p:cNvSpPr>
          <p:nvPr/>
        </p:nvSpPr>
        <p:spPr>
          <a:xfrm xmlns:a="http://schemas.openxmlformats.org/drawingml/2006/main">
            <a:off x="685800" y="40386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7895874A-E3E7-4383-842A-BB41BE73B1E3}"/>
              </a:ext>
            </a:extLst>
          </p:cNvPr>
          <p:cNvSpPr>
            <a:spLocks xmlns:a="http://schemas.openxmlformats.org/drawingml/2006/main" noGrp="1"/>
          </p:cNvSpPr>
          <p:nvPr/>
        </p:nvSpPr>
        <p:spPr>
          <a:xfrm xmlns:a="http://schemas.openxmlformats.org/drawingml/2006/main">
            <a:off x="1495425" y="40386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Run a recall attempt</a:t>
            </a:r>
          </a:p>
        </p:txBody>
      </p:sp>
      <p:sp>
        <p:nvSpPr>
          <p:cNvPr id="15" name="text-14">
            <a:extLst xmlns:a="http://schemas.openxmlformats.org/drawingml/2006/main">
              <a:ext uri="{FF2B5EF4-FFF2-40B4-BE49-F238E27FC236}">
                <a16:creationId xmlns:a16="http://schemas.microsoft.com/office/drawing/2014/main" id="{0F38407A-9A56-407D-98F5-023193719783}"/>
              </a:ext>
            </a:extLst>
          </p:cNvPr>
          <p:cNvSpPr>
            <a:spLocks xmlns:a="http://schemas.openxmlformats.org/drawingml/2006/main" noGrp="1"/>
          </p:cNvSpPr>
          <p:nvPr/>
        </p:nvSpPr>
        <p:spPr>
          <a:xfrm xmlns:a="http://schemas.openxmlformats.org/drawingml/2006/main">
            <a:off x="5486400" y="40386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Hide the title, attempt the answer, reveal, and rate.</a:t>
            </a:r>
          </a:p>
        </p:txBody>
      </p:sp>
      <p:sp>
        <p:nvSpPr>
          <p:cNvPr id="16" name="text-15">
            <a:extLst xmlns:a="http://schemas.openxmlformats.org/drawingml/2006/main">
              <a:ext uri="{FF2B5EF4-FFF2-40B4-BE49-F238E27FC236}">
                <a16:creationId xmlns:a16="http://schemas.microsoft.com/office/drawing/2014/main" id="{360BBCB4-33C4-4E25-89BD-7BF9827848B9}"/>
              </a:ext>
            </a:extLst>
          </p:cNvPr>
          <p:cNvSpPr>
            <a:spLocks xmlns:a="http://schemas.openxmlformats.org/drawingml/2006/main" noGrp="1"/>
          </p:cNvSpPr>
          <p:nvPr/>
        </p:nvSpPr>
        <p:spPr>
          <a:xfrm xmlns:a="http://schemas.openxmlformats.org/drawingml/2006/main">
            <a:off x="685800" y="48196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05</a:t>
            </a:r>
          </a:p>
        </p:txBody>
      </p:sp>
      <p:sp>
        <p:nvSpPr>
          <p:cNvPr id="17" name="text-16">
            <a:extLst xmlns:a="http://schemas.openxmlformats.org/drawingml/2006/main">
              <a:ext uri="{FF2B5EF4-FFF2-40B4-BE49-F238E27FC236}">
                <a16:creationId xmlns:a16="http://schemas.microsoft.com/office/drawing/2014/main" id="{D42E7A15-F3C2-4898-B910-B3440775C43E}"/>
              </a:ext>
            </a:extLst>
          </p:cNvPr>
          <p:cNvSpPr>
            <a:spLocks xmlns:a="http://schemas.openxmlformats.org/drawingml/2006/main" noGrp="1"/>
          </p:cNvSpPr>
          <p:nvPr/>
        </p:nvSpPr>
        <p:spPr>
          <a:xfrm xmlns:a="http://schemas.openxmlformats.org/drawingml/2006/main">
            <a:off x="1495425" y="48196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Refresh the page</a:t>
            </a:r>
          </a:p>
        </p:txBody>
      </p:sp>
      <p:sp>
        <p:nvSpPr>
          <p:cNvPr id="18" name="text-17">
            <a:extLst xmlns:a="http://schemas.openxmlformats.org/drawingml/2006/main">
              <a:ext uri="{FF2B5EF4-FFF2-40B4-BE49-F238E27FC236}">
                <a16:creationId xmlns:a16="http://schemas.microsoft.com/office/drawing/2014/main" id="{59003911-FED6-4D10-8103-92340FB2FC84}"/>
              </a:ext>
            </a:extLst>
          </p:cNvPr>
          <p:cNvSpPr>
            <a:spLocks xmlns:a="http://schemas.openxmlformats.org/drawingml/2006/main" noGrp="1"/>
          </p:cNvSpPr>
          <p:nvPr/>
        </p:nvSpPr>
        <p:spPr>
          <a:xfrm xmlns:a="http://schemas.openxmlformats.org/drawingml/2006/main">
            <a:off x="5486400" y="48196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Show that the palace, note, and progress remain.</a:t>
            </a:r>
          </a:p>
        </p:txBody>
      </p:sp>
      <p:sp>
        <p:nvSpPr>
          <p:cNvPr id="19" name="text-18">
            <a:extLst xmlns:a="http://schemas.openxmlformats.org/drawingml/2006/main">
              <a:ext uri="{FF2B5EF4-FFF2-40B4-BE49-F238E27FC236}">
                <a16:creationId xmlns:a16="http://schemas.microsoft.com/office/drawing/2014/main" id="{C2A5E50B-42F9-4F09-A7EF-9F0B95EE3803}"/>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Use demonstration notes. If 3D is unavailable, continue through the anchor list.</a:t>
            </a:r>
          </a:p>
        </p:txBody>
      </p:sp>
    </p:spTree>
    <p:extLst>
      <p:ext uri="{BB962C8B-B14F-4D97-AF65-F5344CB8AC3E}">
        <p14:creationId xmlns:p14="http://schemas.microsoft.com/office/powerpoint/2010/main" val="1182272319"/>
      </p:ext>
    </p:extLst>
  </p:cSld>
</p:sld>
</file>

<file path=ppt/slides/slide20.xml><?xml version="1.0" encoding="utf-8"?>
<p:sld xmlns:p="http://schemas.openxmlformats.org/presentationml/2006/main">
  <p:cSld>
    <p:bg>
      <p:bgPr>
        <a:solidFill xmlns:a="http://schemas.openxmlformats.org/drawingml/2006/main">
          <a:srgbClr val="111528"/>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122113AD-5344-4A34-825C-02EFF52C2893}"/>
              </a:ext>
            </a:extLst>
          </p:cNvPr>
          <p:cNvSpPr>
            <a:spLocks xmlns:a="http://schemas.openxmlformats.org/drawingml/2006/main" noGrp="1"/>
          </p:cNvSpPr>
          <p:nvPr/>
        </p:nvSpPr>
        <p:spPr>
          <a:xfrm xmlns:a="http://schemas.openxmlformats.org/drawingml/2006/main">
            <a:off x="723900" y="8953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NeuroQuest's purpose</a:t>
            </a:r>
          </a:p>
        </p:txBody>
      </p:sp>
      <p:sp>
        <p:nvSpPr>
          <p:cNvPr id="2" name="text-1">
            <a:extLst xmlns:a="http://schemas.openxmlformats.org/drawingml/2006/main">
              <a:ext uri="{FF2B5EF4-FFF2-40B4-BE49-F238E27FC236}">
                <a16:creationId xmlns:a16="http://schemas.microsoft.com/office/drawing/2014/main" id="{6C22DA66-774A-4AED-B330-BC3A94712E66}"/>
              </a:ext>
            </a:extLst>
          </p:cNvPr>
          <p:cNvSpPr>
            <a:spLocks xmlns:a="http://schemas.openxmlformats.org/drawingml/2006/main" noGrp="1"/>
          </p:cNvSpPr>
          <p:nvPr/>
        </p:nvSpPr>
        <p:spPr>
          <a:xfrm xmlns:a="http://schemas.openxmlformats.org/drawingml/2006/main">
            <a:off x="762000" y="3105150"/>
            <a:ext cx="10001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DDD7EC"/>
                </a:solidFill>
                <a:latin typeface="Arial"/>
                <a:ea typeface="Arial"/>
                <a:cs typeface="Arial"/>
              </a:defRPr>
            </a:pPr>
            <a:r>
              <a:rPr sz="2550" b="0">
                <a:solidFill>
                  <a:srgbClr val="DDD7EC"/>
                </a:solidFill>
                <a:latin typeface="Arial"/>
                <a:ea typeface="Arial"/>
                <a:cs typeface="Arial"/>
              </a:rPr>
              <a:t>NeuroQuest turns subject notes into spatial memory cues and gives students a structured way to practise remembering.</a:t>
            </a:r>
          </a:p>
        </p:txBody>
      </p:sp>
      <p:sp>
        <p:nvSpPr>
          <p:cNvPr id="3" name="text-2">
            <a:extLst xmlns:a="http://schemas.openxmlformats.org/drawingml/2006/main">
              <a:ext uri="{FF2B5EF4-FFF2-40B4-BE49-F238E27FC236}">
                <a16:creationId xmlns:a16="http://schemas.microsoft.com/office/drawing/2014/main" id="{E89A12E4-0C5C-4E24-9D6D-697239253188}"/>
              </a:ext>
            </a:extLst>
          </p:cNvPr>
          <p:cNvSpPr>
            <a:spLocks xmlns:a="http://schemas.openxmlformats.org/drawingml/2006/main" noGrp="1"/>
          </p:cNvSpPr>
          <p:nvPr/>
        </p:nvSpPr>
        <p:spPr>
          <a:xfrm xmlns:a="http://schemas.openxmlformats.org/drawingml/2006/main">
            <a:off x="762000" y="54483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BDA2FF"/>
                </a:solidFill>
                <a:latin typeface="Arial"/>
                <a:ea typeface="Arial"/>
                <a:cs typeface="Arial"/>
              </a:defRPr>
            </a:pPr>
            <a:r>
              <a:rPr sz="2250" b="0">
                <a:solidFill>
                  <a:srgbClr val="BDA2FF"/>
                </a:solidFill>
                <a:latin typeface="Arial"/>
                <a:ea typeface="Arial"/>
                <a:cs typeface="Arial"/>
              </a:rPr>
              <a:t>Questions and discussion</a:t>
            </a:r>
          </a:p>
        </p:txBody>
      </p:sp>
    </p:spTree>
    <p:extLst>
      <p:ext uri="{BB962C8B-B14F-4D97-AF65-F5344CB8AC3E}">
        <p14:creationId xmlns:p14="http://schemas.microsoft.com/office/powerpoint/2010/main" val="6202821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2026-09-19T16:32:34.5320000Z</dcterms:created>
  <dcterms:modified xsi:type="dcterms:W3CDTF">2026-09-19T16:32:34.5330000Z</dcterms:modified>
</coreProperties>
</file>